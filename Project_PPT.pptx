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75">
          <p15:clr>
            <a:srgbClr val="A4A3A4"/>
          </p15:clr>
        </p15:guide>
        <p15:guide id="2" pos="2880">
          <p15:clr>
            <a:srgbClr val="A4A3A4"/>
          </p15:clr>
        </p15:guide>
        <p15:guide id="3" orient="horz" pos="1620">
          <p15:clr>
            <a:srgbClr val="A4A3A4"/>
          </p15:clr>
        </p15:guide>
      </p15:sldGuideLst>
    </p:ext>
    <p:ext uri="GoogleSlidesCustomDataVersion2">
      <go:slidesCustomData xmlns:go="http://customooxmlschemas.google.com/" r:id="rId21" roundtripDataSignature="AMtx7mjvyXbn05kVmyEEWFikejGiFYiY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D9F2CC9-9692-46E6-BADF-6A523C5CBE3C}">
  <a:tblStyle styleId="{AD9F2CC9-9692-46E6-BADF-6A523C5CBE3C}"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A778600F-DE87-485F-BD25-3D1D466197A8}"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75" orient="horz"/>
        <p:guide pos="2880"/>
        <p:guide pos="162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93" name="Google Shape;93;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15" name="Shape 15"/>
        <p:cNvGrpSpPr/>
        <p:nvPr/>
      </p:nvGrpSpPr>
      <p:grpSpPr>
        <a:xfrm>
          <a:off x="0" y="0"/>
          <a:ext cx="0" cy="0"/>
          <a:chOff x="0" y="0"/>
          <a:chExt cx="0" cy="0"/>
        </a:xfrm>
      </p:grpSpPr>
      <p:sp>
        <p:nvSpPr>
          <p:cNvPr id="16" name="Google Shape;16;p16"/>
          <p:cNvSpPr txBox="1"/>
          <p:nvPr>
            <p:ph idx="10" type="dt"/>
          </p:nvPr>
        </p:nvSpPr>
        <p:spPr>
          <a:xfrm>
            <a:off x="628650" y="4767264"/>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6"/>
          <p:cNvSpPr txBox="1"/>
          <p:nvPr>
            <p:ph idx="11" type="ftr"/>
          </p:nvPr>
        </p:nvSpPr>
        <p:spPr>
          <a:xfrm>
            <a:off x="3028950" y="4767264"/>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6"/>
          <p:cNvSpPr txBox="1"/>
          <p:nvPr>
            <p:ph idx="12" type="sldNum"/>
          </p:nvPr>
        </p:nvSpPr>
        <p:spPr>
          <a:xfrm>
            <a:off x="6457950" y="4767264"/>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16"/>
          <p:cNvSpPr txBox="1"/>
          <p:nvPr>
            <p:ph type="title"/>
          </p:nvPr>
        </p:nvSpPr>
        <p:spPr>
          <a:xfrm>
            <a:off x="628650" y="273845"/>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6"/>
          <p:cNvSpPr txBox="1"/>
          <p:nvPr>
            <p:ph idx="1" type="body"/>
          </p:nvPr>
        </p:nvSpPr>
        <p:spPr>
          <a:xfrm>
            <a:off x="1143000" y="548640"/>
            <a:ext cx="6400800" cy="260604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17"/>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7"/>
          <p:cNvSpPr txBox="1"/>
          <p:nvPr>
            <p:ph idx="1" type="subTitle"/>
          </p:nvPr>
        </p:nvSpPr>
        <p:spPr>
          <a:xfrm>
            <a:off x="1143000" y="2701528"/>
            <a:ext cx="6858000" cy="124182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4" name="Google Shape;24;p17"/>
          <p:cNvSpPr txBox="1"/>
          <p:nvPr>
            <p:ph idx="10" type="dt"/>
          </p:nvPr>
        </p:nvSpPr>
        <p:spPr>
          <a:xfrm>
            <a:off x="628650" y="4767264"/>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7"/>
          <p:cNvSpPr txBox="1"/>
          <p:nvPr>
            <p:ph idx="11" type="ftr"/>
          </p:nvPr>
        </p:nvSpPr>
        <p:spPr>
          <a:xfrm>
            <a:off x="3028950" y="4767264"/>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7"/>
          <p:cNvSpPr txBox="1"/>
          <p:nvPr>
            <p:ph idx="12" type="sldNum"/>
          </p:nvPr>
        </p:nvSpPr>
        <p:spPr>
          <a:xfrm>
            <a:off x="6457950" y="4767264"/>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7" name="Shape 27"/>
        <p:cNvGrpSpPr/>
        <p:nvPr/>
      </p:nvGrpSpPr>
      <p:grpSpPr>
        <a:xfrm>
          <a:off x="0" y="0"/>
          <a:ext cx="0" cy="0"/>
          <a:chOff x="0" y="0"/>
          <a:chExt cx="0" cy="0"/>
        </a:xfrm>
      </p:grpSpPr>
      <p:sp>
        <p:nvSpPr>
          <p:cNvPr id="28" name="Google Shape;28;p18"/>
          <p:cNvSpPr txBox="1"/>
          <p:nvPr>
            <p:ph type="title"/>
          </p:nvPr>
        </p:nvSpPr>
        <p:spPr>
          <a:xfrm>
            <a:off x="628650" y="273845"/>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8"/>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0" name="Google Shape;30;p18"/>
          <p:cNvSpPr txBox="1"/>
          <p:nvPr>
            <p:ph idx="10" type="dt"/>
          </p:nvPr>
        </p:nvSpPr>
        <p:spPr>
          <a:xfrm>
            <a:off x="628650" y="4767264"/>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8"/>
          <p:cNvSpPr txBox="1"/>
          <p:nvPr>
            <p:ph idx="11" type="ftr"/>
          </p:nvPr>
        </p:nvSpPr>
        <p:spPr>
          <a:xfrm>
            <a:off x="3028950" y="4767264"/>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8"/>
          <p:cNvSpPr txBox="1"/>
          <p:nvPr>
            <p:ph idx="12" type="sldNum"/>
          </p:nvPr>
        </p:nvSpPr>
        <p:spPr>
          <a:xfrm>
            <a:off x="6457950" y="4767264"/>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19"/>
          <p:cNvSpPr txBox="1"/>
          <p:nvPr>
            <p:ph type="title"/>
          </p:nvPr>
        </p:nvSpPr>
        <p:spPr>
          <a:xfrm>
            <a:off x="623888" y="1282305"/>
            <a:ext cx="7886700" cy="21395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9"/>
          <p:cNvSpPr txBox="1"/>
          <p:nvPr>
            <p:ph idx="1" type="body"/>
          </p:nvPr>
        </p:nvSpPr>
        <p:spPr>
          <a:xfrm>
            <a:off x="623888" y="3442099"/>
            <a:ext cx="7886700" cy="112514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6" name="Google Shape;36;p19"/>
          <p:cNvSpPr txBox="1"/>
          <p:nvPr>
            <p:ph idx="10" type="dt"/>
          </p:nvPr>
        </p:nvSpPr>
        <p:spPr>
          <a:xfrm>
            <a:off x="628650" y="4767264"/>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9"/>
          <p:cNvSpPr txBox="1"/>
          <p:nvPr>
            <p:ph idx="11" type="ftr"/>
          </p:nvPr>
        </p:nvSpPr>
        <p:spPr>
          <a:xfrm>
            <a:off x="3028950" y="4767264"/>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9"/>
          <p:cNvSpPr txBox="1"/>
          <p:nvPr>
            <p:ph idx="12" type="sldNum"/>
          </p:nvPr>
        </p:nvSpPr>
        <p:spPr>
          <a:xfrm>
            <a:off x="6457950" y="4767264"/>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20"/>
          <p:cNvSpPr txBox="1"/>
          <p:nvPr>
            <p:ph type="title"/>
          </p:nvPr>
        </p:nvSpPr>
        <p:spPr>
          <a:xfrm>
            <a:off x="628650" y="273845"/>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0"/>
          <p:cNvSpPr txBox="1"/>
          <p:nvPr>
            <p:ph idx="1" type="body"/>
          </p:nvPr>
        </p:nvSpPr>
        <p:spPr>
          <a:xfrm>
            <a:off x="6286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2" name="Google Shape;42;p20"/>
          <p:cNvSpPr txBox="1"/>
          <p:nvPr>
            <p:ph idx="2" type="body"/>
          </p:nvPr>
        </p:nvSpPr>
        <p:spPr>
          <a:xfrm>
            <a:off x="46291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3" name="Google Shape;43;p20"/>
          <p:cNvSpPr txBox="1"/>
          <p:nvPr>
            <p:ph idx="10" type="dt"/>
          </p:nvPr>
        </p:nvSpPr>
        <p:spPr>
          <a:xfrm>
            <a:off x="628650" y="4767264"/>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0"/>
          <p:cNvSpPr txBox="1"/>
          <p:nvPr>
            <p:ph idx="11" type="ftr"/>
          </p:nvPr>
        </p:nvSpPr>
        <p:spPr>
          <a:xfrm>
            <a:off x="3028950" y="4767264"/>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0"/>
          <p:cNvSpPr txBox="1"/>
          <p:nvPr>
            <p:ph idx="12" type="sldNum"/>
          </p:nvPr>
        </p:nvSpPr>
        <p:spPr>
          <a:xfrm>
            <a:off x="6457950" y="4767264"/>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21"/>
          <p:cNvSpPr txBox="1"/>
          <p:nvPr>
            <p:ph type="title"/>
          </p:nvPr>
        </p:nvSpPr>
        <p:spPr>
          <a:xfrm>
            <a:off x="629841" y="273845"/>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21"/>
          <p:cNvSpPr txBox="1"/>
          <p:nvPr>
            <p:ph idx="1" type="body"/>
          </p:nvPr>
        </p:nvSpPr>
        <p:spPr>
          <a:xfrm>
            <a:off x="629842" y="1260872"/>
            <a:ext cx="3868340"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9" name="Google Shape;49;p21"/>
          <p:cNvSpPr txBox="1"/>
          <p:nvPr>
            <p:ph idx="2" type="body"/>
          </p:nvPr>
        </p:nvSpPr>
        <p:spPr>
          <a:xfrm>
            <a:off x="629842" y="1878806"/>
            <a:ext cx="3868340"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0" name="Google Shape;50;p21"/>
          <p:cNvSpPr txBox="1"/>
          <p:nvPr>
            <p:ph idx="3" type="body"/>
          </p:nvPr>
        </p:nvSpPr>
        <p:spPr>
          <a:xfrm>
            <a:off x="4629151" y="1260872"/>
            <a:ext cx="3887391"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1" name="Google Shape;51;p21"/>
          <p:cNvSpPr txBox="1"/>
          <p:nvPr>
            <p:ph idx="4" type="body"/>
          </p:nvPr>
        </p:nvSpPr>
        <p:spPr>
          <a:xfrm>
            <a:off x="4629151" y="1878806"/>
            <a:ext cx="3887391"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2" name="Google Shape;52;p21"/>
          <p:cNvSpPr txBox="1"/>
          <p:nvPr>
            <p:ph idx="10" type="dt"/>
          </p:nvPr>
        </p:nvSpPr>
        <p:spPr>
          <a:xfrm>
            <a:off x="628650" y="4767264"/>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1" type="ftr"/>
          </p:nvPr>
        </p:nvSpPr>
        <p:spPr>
          <a:xfrm>
            <a:off x="3028950" y="4767264"/>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1"/>
          <p:cNvSpPr txBox="1"/>
          <p:nvPr>
            <p:ph idx="12" type="sldNum"/>
          </p:nvPr>
        </p:nvSpPr>
        <p:spPr>
          <a:xfrm>
            <a:off x="6457950" y="4767264"/>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22"/>
          <p:cNvSpPr txBox="1"/>
          <p:nvPr>
            <p:ph type="title"/>
          </p:nvPr>
        </p:nvSpPr>
        <p:spPr>
          <a:xfrm>
            <a:off x="628650" y="273845"/>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2"/>
          <p:cNvSpPr txBox="1"/>
          <p:nvPr>
            <p:ph idx="10" type="dt"/>
          </p:nvPr>
        </p:nvSpPr>
        <p:spPr>
          <a:xfrm>
            <a:off x="628650" y="4767264"/>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2"/>
          <p:cNvSpPr txBox="1"/>
          <p:nvPr>
            <p:ph idx="11" type="ftr"/>
          </p:nvPr>
        </p:nvSpPr>
        <p:spPr>
          <a:xfrm>
            <a:off x="3028950" y="4767264"/>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2"/>
          <p:cNvSpPr txBox="1"/>
          <p:nvPr>
            <p:ph idx="12" type="sldNum"/>
          </p:nvPr>
        </p:nvSpPr>
        <p:spPr>
          <a:xfrm>
            <a:off x="6457950" y="4767264"/>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23"/>
          <p:cNvSpPr txBox="1"/>
          <p:nvPr>
            <p:ph idx="10" type="dt"/>
          </p:nvPr>
        </p:nvSpPr>
        <p:spPr>
          <a:xfrm>
            <a:off x="628650" y="4767264"/>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3"/>
          <p:cNvSpPr txBox="1"/>
          <p:nvPr>
            <p:ph idx="11" type="ftr"/>
          </p:nvPr>
        </p:nvSpPr>
        <p:spPr>
          <a:xfrm>
            <a:off x="3028950" y="4767264"/>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3"/>
          <p:cNvSpPr txBox="1"/>
          <p:nvPr>
            <p:ph idx="12" type="sldNum"/>
          </p:nvPr>
        </p:nvSpPr>
        <p:spPr>
          <a:xfrm>
            <a:off x="6457950" y="4767264"/>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24"/>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4"/>
          <p:cNvSpPr txBox="1"/>
          <p:nvPr>
            <p:ph idx="1" type="body"/>
          </p:nvPr>
        </p:nvSpPr>
        <p:spPr>
          <a:xfrm>
            <a:off x="3887391" y="740570"/>
            <a:ext cx="4629150" cy="3655219"/>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7" name="Google Shape;67;p24"/>
          <p:cNvSpPr txBox="1"/>
          <p:nvPr>
            <p:ph idx="2"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8" name="Google Shape;68;p24"/>
          <p:cNvSpPr txBox="1"/>
          <p:nvPr>
            <p:ph idx="10" type="dt"/>
          </p:nvPr>
        </p:nvSpPr>
        <p:spPr>
          <a:xfrm>
            <a:off x="628650" y="4767264"/>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4"/>
          <p:cNvSpPr txBox="1"/>
          <p:nvPr>
            <p:ph idx="11" type="ftr"/>
          </p:nvPr>
        </p:nvSpPr>
        <p:spPr>
          <a:xfrm>
            <a:off x="3028950" y="4767264"/>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4"/>
          <p:cNvSpPr txBox="1"/>
          <p:nvPr>
            <p:ph idx="12" type="sldNum"/>
          </p:nvPr>
        </p:nvSpPr>
        <p:spPr>
          <a:xfrm>
            <a:off x="6457950" y="4767264"/>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25"/>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5"/>
          <p:cNvSpPr/>
          <p:nvPr>
            <p:ph idx="2" type="pic"/>
          </p:nvPr>
        </p:nvSpPr>
        <p:spPr>
          <a:xfrm>
            <a:off x="3887391" y="740570"/>
            <a:ext cx="4629150" cy="3655219"/>
          </a:xfrm>
          <a:prstGeom prst="rect">
            <a:avLst/>
          </a:prstGeom>
          <a:noFill/>
          <a:ln>
            <a:noFill/>
          </a:ln>
        </p:spPr>
      </p:sp>
      <p:sp>
        <p:nvSpPr>
          <p:cNvPr id="74" name="Google Shape;74;p25"/>
          <p:cNvSpPr txBox="1"/>
          <p:nvPr>
            <p:ph idx="1"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5" name="Google Shape;75;p25"/>
          <p:cNvSpPr txBox="1"/>
          <p:nvPr>
            <p:ph idx="10" type="dt"/>
          </p:nvPr>
        </p:nvSpPr>
        <p:spPr>
          <a:xfrm>
            <a:off x="628650" y="4767264"/>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5"/>
          <p:cNvSpPr txBox="1"/>
          <p:nvPr>
            <p:ph idx="11" type="ftr"/>
          </p:nvPr>
        </p:nvSpPr>
        <p:spPr>
          <a:xfrm>
            <a:off x="3028950" y="4767264"/>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5"/>
          <p:cNvSpPr txBox="1"/>
          <p:nvPr>
            <p:ph idx="12" type="sldNum"/>
          </p:nvPr>
        </p:nvSpPr>
        <p:spPr>
          <a:xfrm>
            <a:off x="6457950" y="4767264"/>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26"/>
          <p:cNvSpPr txBox="1"/>
          <p:nvPr>
            <p:ph type="title"/>
          </p:nvPr>
        </p:nvSpPr>
        <p:spPr>
          <a:xfrm>
            <a:off x="628650" y="273845"/>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6"/>
          <p:cNvSpPr txBox="1"/>
          <p:nvPr>
            <p:ph idx="1" type="body"/>
          </p:nvPr>
        </p:nvSpPr>
        <p:spPr>
          <a:xfrm rot="5400000">
            <a:off x="2940248" y="-942379"/>
            <a:ext cx="3263504"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26"/>
          <p:cNvSpPr txBox="1"/>
          <p:nvPr>
            <p:ph idx="10" type="dt"/>
          </p:nvPr>
        </p:nvSpPr>
        <p:spPr>
          <a:xfrm>
            <a:off x="628650" y="4767264"/>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6"/>
          <p:cNvSpPr txBox="1"/>
          <p:nvPr>
            <p:ph idx="11" type="ftr"/>
          </p:nvPr>
        </p:nvSpPr>
        <p:spPr>
          <a:xfrm>
            <a:off x="3028950" y="4767264"/>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6"/>
          <p:cNvSpPr txBox="1"/>
          <p:nvPr>
            <p:ph idx="12" type="sldNum"/>
          </p:nvPr>
        </p:nvSpPr>
        <p:spPr>
          <a:xfrm>
            <a:off x="6457950" y="4767264"/>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27"/>
          <p:cNvSpPr txBox="1"/>
          <p:nvPr>
            <p:ph type="title"/>
          </p:nvPr>
        </p:nvSpPr>
        <p:spPr>
          <a:xfrm rot="5400000">
            <a:off x="5350074" y="1467446"/>
            <a:ext cx="4358879"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27"/>
          <p:cNvSpPr txBox="1"/>
          <p:nvPr>
            <p:ph idx="1" type="body"/>
          </p:nvPr>
        </p:nvSpPr>
        <p:spPr>
          <a:xfrm rot="5400000">
            <a:off x="1349574" y="-447079"/>
            <a:ext cx="4358879"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7" name="Google Shape;87;p27"/>
          <p:cNvSpPr txBox="1"/>
          <p:nvPr>
            <p:ph idx="10" type="dt"/>
          </p:nvPr>
        </p:nvSpPr>
        <p:spPr>
          <a:xfrm>
            <a:off x="628650" y="4767264"/>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7"/>
          <p:cNvSpPr txBox="1"/>
          <p:nvPr>
            <p:ph idx="11" type="ftr"/>
          </p:nvPr>
        </p:nvSpPr>
        <p:spPr>
          <a:xfrm>
            <a:off x="3028950" y="4767264"/>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7"/>
          <p:cNvSpPr txBox="1"/>
          <p:nvPr>
            <p:ph idx="12" type="sldNum"/>
          </p:nvPr>
        </p:nvSpPr>
        <p:spPr>
          <a:xfrm>
            <a:off x="6457950" y="4767264"/>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628650" y="273845"/>
            <a:ext cx="7886700" cy="99417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5"/>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5"/>
          <p:cNvSpPr txBox="1"/>
          <p:nvPr>
            <p:ph idx="10" type="dt"/>
          </p:nvPr>
        </p:nvSpPr>
        <p:spPr>
          <a:xfrm>
            <a:off x="628650" y="4767264"/>
            <a:ext cx="20574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5"/>
          <p:cNvSpPr txBox="1"/>
          <p:nvPr>
            <p:ph idx="11" type="ftr"/>
          </p:nvPr>
        </p:nvSpPr>
        <p:spPr>
          <a:xfrm>
            <a:off x="3028950" y="4767264"/>
            <a:ext cx="30861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5"/>
          <p:cNvSpPr txBox="1"/>
          <p:nvPr>
            <p:ph idx="12" type="sldNum"/>
          </p:nvPr>
        </p:nvSpPr>
        <p:spPr>
          <a:xfrm>
            <a:off x="6457950" y="4767264"/>
            <a:ext cx="20574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
          <p:cNvSpPr txBox="1"/>
          <p:nvPr/>
        </p:nvSpPr>
        <p:spPr>
          <a:xfrm>
            <a:off x="2786332" y="1543050"/>
            <a:ext cx="3810000" cy="473155"/>
          </a:xfrm>
          <a:prstGeom prst="rect">
            <a:avLst/>
          </a:prstGeom>
          <a:noFill/>
          <a:ln>
            <a:noFill/>
          </a:ln>
        </p:spPr>
        <p:txBody>
          <a:bodyPr anchorCtr="0" anchor="t" bIns="45700" lIns="91425" spcFirstLastPara="1" rIns="91425" wrap="square" tIns="45700">
            <a:noAutofit/>
          </a:bodyPr>
          <a:lstStyle/>
          <a:p>
            <a:pPr indent="0" lvl="0" marL="0" marR="0" rtl="0" algn="r">
              <a:lnSpc>
                <a:spcPct val="115000"/>
              </a:lnSpc>
              <a:spcBef>
                <a:spcPts val="0"/>
              </a:spcBef>
              <a:spcAft>
                <a:spcPts val="0"/>
              </a:spcAft>
              <a:buNone/>
            </a:pPr>
            <a:r>
              <a:t/>
            </a:r>
            <a:endParaRPr b="0" i="0" sz="1100" u="none" cap="none" strike="noStrike">
              <a:solidFill>
                <a:schemeClr val="dk1"/>
              </a:solidFill>
              <a:latin typeface="Calibri"/>
              <a:ea typeface="Calibri"/>
              <a:cs typeface="Calibri"/>
              <a:sym typeface="Calibri"/>
            </a:endParaRPr>
          </a:p>
          <a:p>
            <a:pPr indent="0" lvl="0" marL="0" marR="0" rtl="0" algn="r">
              <a:lnSpc>
                <a:spcPct val="115000"/>
              </a:lnSpc>
              <a:spcBef>
                <a:spcPts val="1000"/>
              </a:spcBef>
              <a:spcAft>
                <a:spcPts val="0"/>
              </a:spcAft>
              <a:buNone/>
            </a:pPr>
            <a:r>
              <a:t/>
            </a:r>
            <a:endParaRPr b="0" i="0" sz="1100" u="none" cap="none" strike="noStrike">
              <a:solidFill>
                <a:schemeClr val="dk1"/>
              </a:solidFill>
              <a:latin typeface="Calibri"/>
              <a:ea typeface="Calibri"/>
              <a:cs typeface="Calibri"/>
              <a:sym typeface="Calibri"/>
            </a:endParaRPr>
          </a:p>
          <a:p>
            <a:pPr indent="0" lvl="0" marL="0" marR="0" rtl="0" algn="r">
              <a:lnSpc>
                <a:spcPct val="115000"/>
              </a:lnSpc>
              <a:spcBef>
                <a:spcPts val="1000"/>
              </a:spcBef>
              <a:spcAft>
                <a:spcPts val="0"/>
              </a:spcAft>
              <a:buNone/>
            </a:pPr>
            <a:r>
              <a:t/>
            </a:r>
            <a:endParaRPr b="0" i="0" sz="1100" u="none" cap="none" strike="noStrike">
              <a:solidFill>
                <a:schemeClr val="dk1"/>
              </a:solidFill>
              <a:latin typeface="Calibri"/>
              <a:ea typeface="Calibri"/>
              <a:cs typeface="Calibri"/>
              <a:sym typeface="Calibri"/>
            </a:endParaRPr>
          </a:p>
        </p:txBody>
      </p:sp>
      <p:cxnSp>
        <p:nvCxnSpPr>
          <p:cNvPr id="96" name="Google Shape;96;p1"/>
          <p:cNvCxnSpPr/>
          <p:nvPr/>
        </p:nvCxnSpPr>
        <p:spPr>
          <a:xfrm>
            <a:off x="0" y="461434"/>
            <a:ext cx="9144000" cy="0"/>
          </a:xfrm>
          <a:prstGeom prst="straightConnector1">
            <a:avLst/>
          </a:prstGeom>
          <a:noFill/>
          <a:ln cap="flat" cmpd="thickThin" w="38100">
            <a:solidFill>
              <a:srgbClr val="0070C0"/>
            </a:solidFill>
            <a:prstDash val="solid"/>
            <a:miter lim="800000"/>
            <a:headEnd len="sm" w="sm" type="none"/>
            <a:tailEnd len="sm" w="sm" type="none"/>
          </a:ln>
        </p:spPr>
      </p:cxnSp>
      <p:sp>
        <p:nvSpPr>
          <p:cNvPr id="97" name="Google Shape;97;p1"/>
          <p:cNvSpPr/>
          <p:nvPr/>
        </p:nvSpPr>
        <p:spPr>
          <a:xfrm>
            <a:off x="0" y="4914900"/>
            <a:ext cx="9144000" cy="228600"/>
          </a:xfrm>
          <a:prstGeom prst="rect">
            <a:avLst/>
          </a:prstGeom>
          <a:solidFill>
            <a:srgbClr val="BBD6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 name="Google Shape;98;p1"/>
          <p:cNvSpPr txBox="1"/>
          <p:nvPr>
            <p:ph idx="10" type="dt"/>
          </p:nvPr>
        </p:nvSpPr>
        <p:spPr>
          <a:xfrm>
            <a:off x="152400" y="4892278"/>
            <a:ext cx="25146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rgbClr val="002060"/>
                </a:solidFill>
                <a:latin typeface="Times New Roman"/>
                <a:ea typeface="Times New Roman"/>
                <a:cs typeface="Times New Roman"/>
                <a:sym typeface="Times New Roman"/>
              </a:rPr>
              <a:t>12/01/2026</a:t>
            </a:r>
            <a:endParaRPr b="1" sz="1100">
              <a:solidFill>
                <a:srgbClr val="002060"/>
              </a:solidFill>
              <a:latin typeface="Times New Roman"/>
              <a:ea typeface="Times New Roman"/>
              <a:cs typeface="Times New Roman"/>
              <a:sym typeface="Times New Roman"/>
            </a:endParaRPr>
          </a:p>
        </p:txBody>
      </p:sp>
      <p:sp>
        <p:nvSpPr>
          <p:cNvPr id="99" name="Google Shape;99;p1"/>
          <p:cNvSpPr txBox="1"/>
          <p:nvPr>
            <p:ph idx="11" type="ftr"/>
          </p:nvPr>
        </p:nvSpPr>
        <p:spPr>
          <a:xfrm>
            <a:off x="3239069" y="4892278"/>
            <a:ext cx="3352801"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rgbClr val="002060"/>
                </a:solidFill>
                <a:latin typeface="Times New Roman"/>
                <a:ea typeface="Times New Roman"/>
                <a:cs typeface="Times New Roman"/>
                <a:sym typeface="Times New Roman"/>
              </a:rPr>
              <a:t>School of  ECE</a:t>
            </a:r>
            <a:endParaRPr sz="1050">
              <a:solidFill>
                <a:srgbClr val="002060"/>
              </a:solidFill>
            </a:endParaRPr>
          </a:p>
        </p:txBody>
      </p:sp>
      <p:sp>
        <p:nvSpPr>
          <p:cNvPr id="100" name="Google Shape;100;p1"/>
          <p:cNvSpPr txBox="1"/>
          <p:nvPr>
            <p:ph idx="12" type="sldNum"/>
          </p:nvPr>
        </p:nvSpPr>
        <p:spPr>
          <a:xfrm>
            <a:off x="6629400" y="4873068"/>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Times New Roman"/>
                <a:ea typeface="Times New Roman"/>
                <a:cs typeface="Times New Roman"/>
                <a:sym typeface="Times New Roman"/>
              </a:rPr>
              <a:t>1</a:t>
            </a:r>
            <a:endParaRPr/>
          </a:p>
        </p:txBody>
      </p:sp>
      <p:pic>
        <p:nvPicPr>
          <p:cNvPr id="101" name="Google Shape;101;p1"/>
          <p:cNvPicPr preferRelativeResize="0"/>
          <p:nvPr/>
        </p:nvPicPr>
        <p:blipFill rotWithShape="1">
          <a:blip r:embed="rId3">
            <a:alphaModFix/>
          </a:blip>
          <a:srcRect b="16827" l="1673" r="2922" t="18483"/>
          <a:stretch/>
        </p:blipFill>
        <p:spPr>
          <a:xfrm>
            <a:off x="2514600" y="14488"/>
            <a:ext cx="4308591" cy="396845"/>
          </a:xfrm>
          <a:prstGeom prst="rect">
            <a:avLst/>
          </a:prstGeom>
          <a:noFill/>
          <a:ln>
            <a:noFill/>
          </a:ln>
        </p:spPr>
      </p:pic>
      <p:sp>
        <p:nvSpPr>
          <p:cNvPr id="102" name="Google Shape;102;p1"/>
          <p:cNvSpPr/>
          <p:nvPr/>
        </p:nvSpPr>
        <p:spPr>
          <a:xfrm>
            <a:off x="-4313" y="484057"/>
            <a:ext cx="9144000" cy="4434256"/>
          </a:xfrm>
          <a:prstGeom prst="rect">
            <a:avLst/>
          </a:prstGeom>
          <a:solidFill>
            <a:srgbClr val="D8E2F3"/>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1"/>
          <p:cNvSpPr/>
          <p:nvPr/>
        </p:nvSpPr>
        <p:spPr>
          <a:xfrm>
            <a:off x="4313" y="907584"/>
            <a:ext cx="91440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2060"/>
              </a:buClr>
              <a:buSzPts val="3200"/>
              <a:buFont typeface="Calibri"/>
              <a:buNone/>
            </a:pPr>
            <a:r>
              <a:rPr b="1" i="0" lang="en-US" sz="3200" u="none" cap="none" strike="noStrike">
                <a:solidFill>
                  <a:srgbClr val="002060"/>
                </a:solidFill>
                <a:latin typeface="Calibri"/>
                <a:ea typeface="Calibri"/>
                <a:cs typeface="Calibri"/>
                <a:sym typeface="Calibri"/>
              </a:rPr>
              <a:t>OS-ED COURSE PROJECT</a:t>
            </a:r>
            <a:endParaRPr/>
          </a:p>
        </p:txBody>
      </p:sp>
      <p:sp>
        <p:nvSpPr>
          <p:cNvPr id="104" name="Google Shape;104;p1"/>
          <p:cNvSpPr/>
          <p:nvPr/>
        </p:nvSpPr>
        <p:spPr>
          <a:xfrm>
            <a:off x="84902" y="2817019"/>
            <a:ext cx="3766868" cy="2126864"/>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0" lang="en-US" sz="1800" u="none" cap="none" strike="noStrike">
                <a:solidFill>
                  <a:srgbClr val="002060"/>
                </a:solidFill>
                <a:latin typeface="Calibri"/>
                <a:ea typeface="Calibri"/>
                <a:cs typeface="Calibri"/>
                <a:sym typeface="Calibri"/>
              </a:rPr>
              <a:t>Course: </a:t>
            </a:r>
            <a:r>
              <a:rPr b="0" i="0" lang="en-US" sz="1800" u="none" cap="none" strike="noStrike">
                <a:solidFill>
                  <a:srgbClr val="002060"/>
                </a:solidFill>
                <a:latin typeface="Calibri"/>
                <a:ea typeface="Calibri"/>
                <a:cs typeface="Calibri"/>
                <a:sym typeface="Calibri"/>
              </a:rPr>
              <a:t>Operating System and    Embedded Systems Design</a:t>
            </a:r>
            <a:endParaRPr b="0" i="0" sz="1800" u="none" cap="none" strike="noStrike">
              <a:solidFill>
                <a:srgbClr val="002060"/>
              </a:solidFill>
              <a:latin typeface="Calibri"/>
              <a:ea typeface="Calibri"/>
              <a:cs typeface="Calibri"/>
              <a:sym typeface="Calibri"/>
            </a:endParaRPr>
          </a:p>
          <a:p>
            <a:pPr indent="0" lvl="0" marL="0" marR="0" rtl="0" algn="l">
              <a:lnSpc>
                <a:spcPct val="150000"/>
              </a:lnSpc>
              <a:spcBef>
                <a:spcPts val="0"/>
              </a:spcBef>
              <a:spcAft>
                <a:spcPts val="0"/>
              </a:spcAft>
              <a:buNone/>
            </a:pPr>
            <a:r>
              <a:rPr b="1" i="0" lang="en-US" sz="1800" u="none" cap="none" strike="noStrike">
                <a:solidFill>
                  <a:srgbClr val="002060"/>
                </a:solidFill>
                <a:latin typeface="Calibri"/>
                <a:ea typeface="Calibri"/>
                <a:cs typeface="Calibri"/>
                <a:sym typeface="Calibri"/>
              </a:rPr>
              <a:t>Course Code: </a:t>
            </a:r>
            <a:r>
              <a:rPr b="0" i="0" lang="en-US" sz="1800" u="none" cap="none" strike="noStrike">
                <a:solidFill>
                  <a:srgbClr val="002060"/>
                </a:solidFill>
                <a:latin typeface="Calibri"/>
                <a:ea typeface="Calibri"/>
                <a:cs typeface="Calibri"/>
                <a:sym typeface="Calibri"/>
              </a:rPr>
              <a:t>25EECC304</a:t>
            </a:r>
            <a:endParaRPr b="0" i="0" sz="1800" u="none" cap="none" strike="noStrike">
              <a:solidFill>
                <a:srgbClr val="002060"/>
              </a:solidFill>
              <a:latin typeface="Calibri"/>
              <a:ea typeface="Calibri"/>
              <a:cs typeface="Calibri"/>
              <a:sym typeface="Calibri"/>
            </a:endParaRPr>
          </a:p>
          <a:p>
            <a:pPr indent="0" lvl="0" marL="0" marR="0" rtl="0" algn="l">
              <a:lnSpc>
                <a:spcPct val="150000"/>
              </a:lnSpc>
              <a:spcBef>
                <a:spcPts val="0"/>
              </a:spcBef>
              <a:spcAft>
                <a:spcPts val="0"/>
              </a:spcAft>
              <a:buNone/>
            </a:pPr>
            <a:r>
              <a:rPr b="1" i="0" lang="en-US" sz="1800" u="none" cap="none" strike="noStrike">
                <a:solidFill>
                  <a:srgbClr val="002060"/>
                </a:solidFill>
                <a:latin typeface="Calibri"/>
                <a:ea typeface="Calibri"/>
                <a:cs typeface="Calibri"/>
                <a:sym typeface="Calibri"/>
              </a:rPr>
              <a:t>Semester: </a:t>
            </a:r>
            <a:r>
              <a:rPr b="0" i="0" lang="en-US" sz="1800" u="none" cap="none" strike="noStrike">
                <a:solidFill>
                  <a:srgbClr val="002060"/>
                </a:solidFill>
                <a:latin typeface="Calibri"/>
                <a:ea typeface="Calibri"/>
                <a:cs typeface="Calibri"/>
                <a:sym typeface="Calibri"/>
              </a:rPr>
              <a:t>V</a:t>
            </a:r>
            <a:endParaRPr b="0" i="0" sz="1800" u="none" cap="none" strike="noStrike">
              <a:solidFill>
                <a:srgbClr val="002060"/>
              </a:solidFill>
              <a:latin typeface="Calibri"/>
              <a:ea typeface="Calibri"/>
              <a:cs typeface="Calibri"/>
              <a:sym typeface="Calibri"/>
            </a:endParaRPr>
          </a:p>
          <a:p>
            <a:pPr indent="0" lvl="0" marL="0" marR="0" rtl="0" algn="l">
              <a:lnSpc>
                <a:spcPct val="150000"/>
              </a:lnSpc>
              <a:spcBef>
                <a:spcPts val="0"/>
              </a:spcBef>
              <a:spcAft>
                <a:spcPts val="0"/>
              </a:spcAft>
              <a:buNone/>
            </a:pPr>
            <a:r>
              <a:rPr b="1" i="0" lang="en-US" sz="1800" u="none" cap="none" strike="noStrike">
                <a:solidFill>
                  <a:srgbClr val="002060"/>
                </a:solidFill>
                <a:latin typeface="Calibri"/>
                <a:ea typeface="Calibri"/>
                <a:cs typeface="Calibri"/>
                <a:sym typeface="Calibri"/>
              </a:rPr>
              <a:t>Faculty Mentor</a:t>
            </a:r>
            <a:r>
              <a:rPr b="0" i="0" lang="en-US" sz="1800" u="none" cap="none" strike="noStrike">
                <a:solidFill>
                  <a:srgbClr val="002060"/>
                </a:solidFill>
                <a:latin typeface="Calibri"/>
                <a:ea typeface="Calibri"/>
                <a:cs typeface="Calibri"/>
                <a:sym typeface="Calibri"/>
              </a:rPr>
              <a:t>: Prof. Basawaraj Patil</a:t>
            </a:r>
            <a:endParaRPr b="0" i="0" sz="1800" u="none" cap="none" strike="noStrike">
              <a:solidFill>
                <a:srgbClr val="002060"/>
              </a:solidFill>
              <a:latin typeface="Calibri"/>
              <a:ea typeface="Calibri"/>
              <a:cs typeface="Calibri"/>
              <a:sym typeface="Calibri"/>
            </a:endParaRPr>
          </a:p>
        </p:txBody>
      </p:sp>
      <p:graphicFrame>
        <p:nvGraphicFramePr>
          <p:cNvPr id="105" name="Google Shape;105;p1"/>
          <p:cNvGraphicFramePr/>
          <p:nvPr/>
        </p:nvGraphicFramePr>
        <p:xfrm>
          <a:off x="4137804" y="3098635"/>
          <a:ext cx="3000000" cy="3000000"/>
        </p:xfrm>
        <a:graphic>
          <a:graphicData uri="http://schemas.openxmlformats.org/drawingml/2006/table">
            <a:tbl>
              <a:tblPr bandRow="1" firstRow="1">
                <a:noFill/>
                <a:tableStyleId>{AD9F2CC9-9692-46E6-BADF-6A523C5CBE3C}</a:tableStyleId>
              </a:tblPr>
              <a:tblGrid>
                <a:gridCol w="671425"/>
                <a:gridCol w="762000"/>
                <a:gridCol w="685800"/>
                <a:gridCol w="1143000"/>
                <a:gridCol w="1600200"/>
              </a:tblGrid>
              <a:tr h="257075">
                <a:tc gridSpan="5">
                  <a:txBody>
                    <a:bodyPr/>
                    <a:lstStyle/>
                    <a:p>
                      <a:pPr indent="0" lvl="0" marL="0" marR="0" rtl="0" algn="ctr">
                        <a:lnSpc>
                          <a:spcPct val="100000"/>
                        </a:lnSpc>
                        <a:spcBef>
                          <a:spcPts val="0"/>
                        </a:spcBef>
                        <a:spcAft>
                          <a:spcPts val="0"/>
                        </a:spcAft>
                        <a:buClr>
                          <a:schemeClr val="dk1"/>
                        </a:buClr>
                        <a:buSzPts val="1200"/>
                        <a:buFont typeface="Calibri"/>
                        <a:buNone/>
                      </a:pPr>
                      <a:r>
                        <a:rPr lang="en-US" sz="1200" u="none" cap="none" strike="noStrike"/>
                        <a:t>Team Details</a:t>
                      </a:r>
                      <a:endParaRPr sz="1200" u="none" cap="none" strike="noStrike">
                        <a:solidFill>
                          <a:srgbClr val="002060"/>
                        </a:solidFill>
                      </a:endParaRPr>
                    </a:p>
                  </a:txBody>
                  <a:tcPr marT="34300" marB="34300" marR="91450" marL="91450" anchor="ctr">
                    <a:noFill/>
                  </a:tcPr>
                </a:tc>
                <a:tc hMerge="1"/>
                <a:tc hMerge="1"/>
                <a:tc hMerge="1"/>
                <a:tc hMerge="1"/>
              </a:tr>
              <a:tr h="278125">
                <a:tc>
                  <a:txBody>
                    <a:bodyPr/>
                    <a:lstStyle/>
                    <a:p>
                      <a:pPr indent="0" lvl="0" marL="0" marR="0" rtl="0" algn="ctr">
                        <a:spcBef>
                          <a:spcPts val="0"/>
                        </a:spcBef>
                        <a:spcAft>
                          <a:spcPts val="0"/>
                        </a:spcAft>
                        <a:buNone/>
                      </a:pPr>
                      <a:r>
                        <a:rPr lang="en-US" sz="1000" u="none" cap="none" strike="noStrike"/>
                        <a:t>Sl. No</a:t>
                      </a:r>
                      <a:endParaRPr/>
                    </a:p>
                  </a:txBody>
                  <a:tcPr marT="34300" marB="34300" marR="91450" marL="91450" anchor="ctr">
                    <a:noFill/>
                  </a:tcPr>
                </a:tc>
                <a:tc>
                  <a:txBody>
                    <a:bodyPr/>
                    <a:lstStyle/>
                    <a:p>
                      <a:pPr indent="0" lvl="0" marL="0" marR="0" rtl="0" algn="ctr">
                        <a:spcBef>
                          <a:spcPts val="0"/>
                        </a:spcBef>
                        <a:spcAft>
                          <a:spcPts val="0"/>
                        </a:spcAft>
                        <a:buNone/>
                      </a:pPr>
                      <a:r>
                        <a:rPr lang="en-US" sz="1000" u="none" cap="none" strike="noStrike"/>
                        <a:t>Roll No.</a:t>
                      </a:r>
                      <a:endParaRPr/>
                    </a:p>
                  </a:txBody>
                  <a:tcPr marT="34300" marB="34300" marR="91450" marL="91450" anchor="ctr">
                    <a:noFill/>
                  </a:tcPr>
                </a:tc>
                <a:tc>
                  <a:txBody>
                    <a:bodyPr/>
                    <a:lstStyle/>
                    <a:p>
                      <a:pPr indent="0" lvl="0" marL="0" marR="0" rtl="0" algn="ctr">
                        <a:spcBef>
                          <a:spcPts val="0"/>
                        </a:spcBef>
                        <a:spcAft>
                          <a:spcPts val="0"/>
                        </a:spcAft>
                        <a:buNone/>
                      </a:pPr>
                      <a:r>
                        <a:rPr lang="en-US" sz="1000" u="none" cap="none" strike="noStrike"/>
                        <a:t>Div</a:t>
                      </a:r>
                      <a:endParaRPr/>
                    </a:p>
                  </a:txBody>
                  <a:tcPr marT="34300" marB="34300" marR="91450" marL="91450" anchor="ctr">
                    <a:noFill/>
                  </a:tcPr>
                </a:tc>
                <a:tc>
                  <a:txBody>
                    <a:bodyPr/>
                    <a:lstStyle/>
                    <a:p>
                      <a:pPr indent="0" lvl="0" marL="0" marR="0" rtl="0" algn="ctr">
                        <a:spcBef>
                          <a:spcPts val="0"/>
                        </a:spcBef>
                        <a:spcAft>
                          <a:spcPts val="0"/>
                        </a:spcAft>
                        <a:buNone/>
                      </a:pPr>
                      <a:r>
                        <a:rPr lang="en-US" sz="1000" u="none" cap="none" strike="noStrike"/>
                        <a:t>SRN</a:t>
                      </a:r>
                      <a:endParaRPr/>
                    </a:p>
                  </a:txBody>
                  <a:tcPr marT="34300" marB="34300" marR="91450" marL="91450" anchor="ctr">
                    <a:noFill/>
                  </a:tcPr>
                </a:tc>
                <a:tc>
                  <a:txBody>
                    <a:bodyPr/>
                    <a:lstStyle/>
                    <a:p>
                      <a:pPr indent="0" lvl="0" marL="0" marR="0" rtl="0" algn="ctr">
                        <a:spcBef>
                          <a:spcPts val="0"/>
                        </a:spcBef>
                        <a:spcAft>
                          <a:spcPts val="0"/>
                        </a:spcAft>
                        <a:buNone/>
                      </a:pPr>
                      <a:r>
                        <a:rPr lang="en-US" sz="1000" u="none" cap="none" strike="noStrike"/>
                        <a:t>Name</a:t>
                      </a:r>
                      <a:endParaRPr/>
                    </a:p>
                  </a:txBody>
                  <a:tcPr marT="34300" marB="34300" marR="91450" marL="91450" anchor="ctr">
                    <a:noFill/>
                  </a:tcPr>
                </a:tc>
              </a:tr>
              <a:tr h="278125">
                <a:tc>
                  <a:txBody>
                    <a:bodyPr/>
                    <a:lstStyle/>
                    <a:p>
                      <a:pPr indent="0" lvl="0" marL="0" marR="0" rtl="0" algn="ctr">
                        <a:spcBef>
                          <a:spcPts val="0"/>
                        </a:spcBef>
                        <a:spcAft>
                          <a:spcPts val="0"/>
                        </a:spcAft>
                        <a:buNone/>
                      </a:pPr>
                      <a:r>
                        <a:rPr lang="en-US" sz="1000" u="none" cap="none" strike="noStrike"/>
                        <a:t>1</a:t>
                      </a:r>
                      <a:endParaRPr/>
                    </a:p>
                  </a:txBody>
                  <a:tcPr marT="34300" marB="34300" marR="91450" marL="91450" anchor="ctr">
                    <a:noFill/>
                  </a:tcPr>
                </a:tc>
                <a:tc>
                  <a:txBody>
                    <a:bodyPr/>
                    <a:lstStyle/>
                    <a:p>
                      <a:pPr indent="0" lvl="0" marL="0" marR="0" rtl="0" algn="l">
                        <a:spcBef>
                          <a:spcPts val="0"/>
                        </a:spcBef>
                        <a:spcAft>
                          <a:spcPts val="0"/>
                        </a:spcAft>
                        <a:buNone/>
                      </a:pPr>
                      <a:r>
                        <a:rPr lang="en-US" sz="1000" u="none" cap="none" strike="noStrike"/>
                        <a:t>303</a:t>
                      </a:r>
                      <a:endParaRPr sz="1000"/>
                    </a:p>
                  </a:txBody>
                  <a:tcPr marT="34300" marB="34300" marR="91450" marL="91450" anchor="ctr">
                    <a:noFill/>
                  </a:tcPr>
                </a:tc>
                <a:tc>
                  <a:txBody>
                    <a:bodyPr/>
                    <a:lstStyle/>
                    <a:p>
                      <a:pPr indent="0" lvl="0" marL="0" marR="0" rtl="0" algn="l">
                        <a:spcBef>
                          <a:spcPts val="0"/>
                        </a:spcBef>
                        <a:spcAft>
                          <a:spcPts val="0"/>
                        </a:spcAft>
                        <a:buNone/>
                      </a:pPr>
                      <a:r>
                        <a:rPr lang="en-US" sz="1000"/>
                        <a:t>C</a:t>
                      </a:r>
                      <a:endParaRPr/>
                    </a:p>
                  </a:txBody>
                  <a:tcPr marT="34300" marB="34300" marR="91450" marL="91450" anchor="ctr">
                    <a:noFill/>
                  </a:tcPr>
                </a:tc>
                <a:tc>
                  <a:txBody>
                    <a:bodyPr/>
                    <a:lstStyle/>
                    <a:p>
                      <a:pPr indent="0" lvl="0" marL="0" marR="0" rtl="0" algn="l">
                        <a:spcBef>
                          <a:spcPts val="0"/>
                        </a:spcBef>
                        <a:spcAft>
                          <a:spcPts val="0"/>
                        </a:spcAft>
                        <a:buNone/>
                      </a:pPr>
                      <a:r>
                        <a:rPr lang="en-US" sz="1000"/>
                        <a:t>01FE23BEC067</a:t>
                      </a:r>
                      <a:endParaRPr sz="1000"/>
                    </a:p>
                  </a:txBody>
                  <a:tcPr marT="34300" marB="34300" marR="91450" marL="91450" anchor="ctr">
                    <a:noFill/>
                  </a:tcPr>
                </a:tc>
                <a:tc>
                  <a:txBody>
                    <a:bodyPr/>
                    <a:lstStyle/>
                    <a:p>
                      <a:pPr indent="0" lvl="0" marL="0" marR="0" rtl="0" algn="l">
                        <a:spcBef>
                          <a:spcPts val="0"/>
                        </a:spcBef>
                        <a:spcAft>
                          <a:spcPts val="0"/>
                        </a:spcAft>
                        <a:buNone/>
                      </a:pPr>
                      <a:r>
                        <a:rPr lang="en-US" sz="1000"/>
                        <a:t>Mallikarjun</a:t>
                      </a:r>
                      <a:r>
                        <a:rPr lang="en-US" sz="1000"/>
                        <a:t> Kelur</a:t>
                      </a:r>
                      <a:endParaRPr sz="1000"/>
                    </a:p>
                  </a:txBody>
                  <a:tcPr marT="34300" marB="34300" marR="91450" marL="91450" anchor="ctr">
                    <a:noFill/>
                  </a:tcPr>
                </a:tc>
              </a:tr>
              <a:tr h="278125">
                <a:tc>
                  <a:txBody>
                    <a:bodyPr/>
                    <a:lstStyle/>
                    <a:p>
                      <a:pPr indent="0" lvl="0" marL="0" marR="0" rtl="0" algn="ctr">
                        <a:spcBef>
                          <a:spcPts val="0"/>
                        </a:spcBef>
                        <a:spcAft>
                          <a:spcPts val="0"/>
                        </a:spcAft>
                        <a:buNone/>
                      </a:pPr>
                      <a:r>
                        <a:rPr lang="en-US" sz="1000"/>
                        <a:t>2</a:t>
                      </a:r>
                      <a:endParaRPr/>
                    </a:p>
                  </a:txBody>
                  <a:tcPr marT="34300" marB="34300" marR="91450" marL="91450" anchor="ctr">
                    <a:noFill/>
                  </a:tcPr>
                </a:tc>
                <a:tc>
                  <a:txBody>
                    <a:bodyPr/>
                    <a:lstStyle/>
                    <a:p>
                      <a:pPr indent="0" lvl="0" marL="0" marR="0" rtl="0" algn="l">
                        <a:spcBef>
                          <a:spcPts val="0"/>
                        </a:spcBef>
                        <a:spcAft>
                          <a:spcPts val="0"/>
                        </a:spcAft>
                        <a:buNone/>
                      </a:pPr>
                      <a:r>
                        <a:rPr lang="en-US" sz="1000"/>
                        <a:t>331</a:t>
                      </a:r>
                      <a:endParaRPr sz="1000"/>
                    </a:p>
                  </a:txBody>
                  <a:tcPr marT="34300" marB="34300" marR="91450" marL="91450" anchor="ctr">
                    <a:noFill/>
                  </a:tcPr>
                </a:tc>
                <a:tc>
                  <a:txBody>
                    <a:bodyPr/>
                    <a:lstStyle/>
                    <a:p>
                      <a:pPr indent="0" lvl="0" marL="0" marR="0" rtl="0" algn="l">
                        <a:spcBef>
                          <a:spcPts val="0"/>
                        </a:spcBef>
                        <a:spcAft>
                          <a:spcPts val="0"/>
                        </a:spcAft>
                        <a:buNone/>
                      </a:pPr>
                      <a:r>
                        <a:rPr lang="en-US" sz="1000"/>
                        <a:t>C</a:t>
                      </a:r>
                      <a:endParaRPr/>
                    </a:p>
                  </a:txBody>
                  <a:tcPr marT="34300" marB="34300" marR="91450" marL="91450" anchor="ctr">
                    <a:noFill/>
                  </a:tcPr>
                </a:tc>
                <a:tc>
                  <a:txBody>
                    <a:bodyPr/>
                    <a:lstStyle/>
                    <a:p>
                      <a:pPr indent="0" lvl="0" marL="0" marR="0" rtl="0" algn="l">
                        <a:spcBef>
                          <a:spcPts val="0"/>
                        </a:spcBef>
                        <a:spcAft>
                          <a:spcPts val="0"/>
                        </a:spcAft>
                        <a:buNone/>
                      </a:pPr>
                      <a:r>
                        <a:rPr lang="en-US" sz="1000"/>
                        <a:t>01FE23BEC125</a:t>
                      </a:r>
                      <a:endParaRPr sz="1000"/>
                    </a:p>
                  </a:txBody>
                  <a:tcPr marT="34300" marB="34300" marR="91450" marL="91450" anchor="ctr">
                    <a:noFill/>
                  </a:tcPr>
                </a:tc>
                <a:tc>
                  <a:txBody>
                    <a:bodyPr/>
                    <a:lstStyle/>
                    <a:p>
                      <a:pPr indent="0" lvl="0" marL="0" marR="0" rtl="0" algn="l">
                        <a:spcBef>
                          <a:spcPts val="0"/>
                        </a:spcBef>
                        <a:spcAft>
                          <a:spcPts val="0"/>
                        </a:spcAft>
                        <a:buNone/>
                      </a:pPr>
                      <a:r>
                        <a:rPr lang="en-US" sz="1000"/>
                        <a:t>Ritesh Kulkarni</a:t>
                      </a:r>
                      <a:endParaRPr sz="1000"/>
                    </a:p>
                  </a:txBody>
                  <a:tcPr marT="34300" marB="34300" marR="91450" marL="91450" anchor="ctr">
                    <a:noFill/>
                  </a:tcPr>
                </a:tc>
              </a:tr>
              <a:tr h="278125">
                <a:tc>
                  <a:txBody>
                    <a:bodyPr/>
                    <a:lstStyle/>
                    <a:p>
                      <a:pPr indent="0" lvl="0" marL="0" marR="0" rtl="0" algn="ctr">
                        <a:spcBef>
                          <a:spcPts val="0"/>
                        </a:spcBef>
                        <a:spcAft>
                          <a:spcPts val="0"/>
                        </a:spcAft>
                        <a:buNone/>
                      </a:pPr>
                      <a:r>
                        <a:rPr lang="en-US" sz="1000"/>
                        <a:t>3</a:t>
                      </a:r>
                      <a:endParaRPr/>
                    </a:p>
                  </a:txBody>
                  <a:tcPr marT="34300" marB="34300" marR="91450" marL="91450" anchor="ctr">
                    <a:noFill/>
                  </a:tcPr>
                </a:tc>
                <a:tc>
                  <a:txBody>
                    <a:bodyPr/>
                    <a:lstStyle/>
                    <a:p>
                      <a:pPr indent="0" lvl="0" marL="0" marR="0" rtl="0" algn="l">
                        <a:spcBef>
                          <a:spcPts val="0"/>
                        </a:spcBef>
                        <a:spcAft>
                          <a:spcPts val="0"/>
                        </a:spcAft>
                        <a:buNone/>
                      </a:pPr>
                      <a:r>
                        <a:rPr lang="en-US" sz="1000"/>
                        <a:t>332</a:t>
                      </a:r>
                      <a:endParaRPr sz="1000"/>
                    </a:p>
                  </a:txBody>
                  <a:tcPr marT="34300" marB="34300" marR="91450" marL="91450" anchor="ctr">
                    <a:noFill/>
                  </a:tcPr>
                </a:tc>
                <a:tc>
                  <a:txBody>
                    <a:bodyPr/>
                    <a:lstStyle/>
                    <a:p>
                      <a:pPr indent="0" lvl="0" marL="0" marR="0" rtl="0" algn="l">
                        <a:spcBef>
                          <a:spcPts val="0"/>
                        </a:spcBef>
                        <a:spcAft>
                          <a:spcPts val="0"/>
                        </a:spcAft>
                        <a:buNone/>
                      </a:pPr>
                      <a:r>
                        <a:rPr lang="en-US" sz="1000"/>
                        <a:t>C</a:t>
                      </a:r>
                      <a:endParaRPr/>
                    </a:p>
                  </a:txBody>
                  <a:tcPr marT="34300" marB="34300" marR="91450" marL="91450" anchor="ctr">
                    <a:noFill/>
                  </a:tcPr>
                </a:tc>
                <a:tc>
                  <a:txBody>
                    <a:bodyPr/>
                    <a:lstStyle/>
                    <a:p>
                      <a:pPr indent="0" lvl="0" marL="0" marR="0" rtl="0" algn="l">
                        <a:spcBef>
                          <a:spcPts val="0"/>
                        </a:spcBef>
                        <a:spcAft>
                          <a:spcPts val="0"/>
                        </a:spcAft>
                        <a:buNone/>
                      </a:pPr>
                      <a:r>
                        <a:rPr lang="en-US" sz="1000"/>
                        <a:t>01FE23BEC126</a:t>
                      </a:r>
                      <a:endParaRPr sz="1000"/>
                    </a:p>
                  </a:txBody>
                  <a:tcPr marT="34300" marB="34300" marR="91450" marL="91450" anchor="ctr">
                    <a:noFill/>
                  </a:tcPr>
                </a:tc>
                <a:tc>
                  <a:txBody>
                    <a:bodyPr/>
                    <a:lstStyle/>
                    <a:p>
                      <a:pPr indent="0" lvl="0" marL="0" marR="0" rtl="0" algn="l">
                        <a:spcBef>
                          <a:spcPts val="0"/>
                        </a:spcBef>
                        <a:spcAft>
                          <a:spcPts val="0"/>
                        </a:spcAft>
                        <a:buNone/>
                      </a:pPr>
                      <a:r>
                        <a:rPr lang="en-US" sz="1000"/>
                        <a:t>Varun</a:t>
                      </a:r>
                      <a:r>
                        <a:rPr lang="en-US" sz="1000"/>
                        <a:t> Pai</a:t>
                      </a:r>
                      <a:endParaRPr sz="1000"/>
                    </a:p>
                  </a:txBody>
                  <a:tcPr marT="34300" marB="34300" marR="91450" marL="91450" anchor="ctr">
                    <a:noFill/>
                  </a:tcPr>
                </a:tc>
              </a:tr>
              <a:tr h="278125">
                <a:tc>
                  <a:txBody>
                    <a:bodyPr/>
                    <a:lstStyle/>
                    <a:p>
                      <a:pPr indent="0" lvl="0" marL="0" marR="0" rtl="0" algn="ctr">
                        <a:spcBef>
                          <a:spcPts val="0"/>
                        </a:spcBef>
                        <a:spcAft>
                          <a:spcPts val="0"/>
                        </a:spcAft>
                        <a:buNone/>
                      </a:pPr>
                      <a:r>
                        <a:rPr lang="en-US" sz="1000"/>
                        <a:t>4</a:t>
                      </a:r>
                      <a:endParaRPr/>
                    </a:p>
                  </a:txBody>
                  <a:tcPr marT="34300" marB="34300" marR="91450" marL="91450" anchor="ctr">
                    <a:noFill/>
                  </a:tcPr>
                </a:tc>
                <a:tc>
                  <a:txBody>
                    <a:bodyPr/>
                    <a:lstStyle/>
                    <a:p>
                      <a:pPr indent="0" lvl="0" marL="0" marR="0" rtl="0" algn="l">
                        <a:spcBef>
                          <a:spcPts val="0"/>
                        </a:spcBef>
                        <a:spcAft>
                          <a:spcPts val="0"/>
                        </a:spcAft>
                        <a:buNone/>
                      </a:pPr>
                      <a:r>
                        <a:rPr lang="en-US" sz="1000"/>
                        <a:t>336</a:t>
                      </a:r>
                      <a:endParaRPr sz="1000"/>
                    </a:p>
                  </a:txBody>
                  <a:tcPr marT="34300" marB="34300" marR="91450" marL="91450" anchor="ctr">
                    <a:noFill/>
                  </a:tcPr>
                </a:tc>
                <a:tc>
                  <a:txBody>
                    <a:bodyPr/>
                    <a:lstStyle/>
                    <a:p>
                      <a:pPr indent="0" lvl="0" marL="0" marR="0" rtl="0" algn="l">
                        <a:spcBef>
                          <a:spcPts val="0"/>
                        </a:spcBef>
                        <a:spcAft>
                          <a:spcPts val="0"/>
                        </a:spcAft>
                        <a:buNone/>
                      </a:pPr>
                      <a:r>
                        <a:rPr lang="en-US" sz="1000"/>
                        <a:t>C</a:t>
                      </a:r>
                      <a:endParaRPr/>
                    </a:p>
                  </a:txBody>
                  <a:tcPr marT="34300" marB="34300" marR="91450" marL="91450" anchor="ctr">
                    <a:noFill/>
                  </a:tcPr>
                </a:tc>
                <a:tc>
                  <a:txBody>
                    <a:bodyPr/>
                    <a:lstStyle/>
                    <a:p>
                      <a:pPr indent="0" lvl="0" marL="0" marR="0" rtl="0" algn="l">
                        <a:spcBef>
                          <a:spcPts val="0"/>
                        </a:spcBef>
                        <a:spcAft>
                          <a:spcPts val="0"/>
                        </a:spcAft>
                        <a:buNone/>
                      </a:pPr>
                      <a:r>
                        <a:rPr lang="en-US" sz="1000"/>
                        <a:t>01FE23BEC077</a:t>
                      </a:r>
                      <a:endParaRPr sz="1000"/>
                    </a:p>
                  </a:txBody>
                  <a:tcPr marT="34300" marB="34300" marR="91450" marL="91450" anchor="ctr">
                    <a:noFill/>
                  </a:tcPr>
                </a:tc>
                <a:tc>
                  <a:txBody>
                    <a:bodyPr/>
                    <a:lstStyle/>
                    <a:p>
                      <a:pPr indent="0" lvl="0" marL="0" marR="0" rtl="0" algn="l">
                        <a:spcBef>
                          <a:spcPts val="0"/>
                        </a:spcBef>
                        <a:spcAft>
                          <a:spcPts val="0"/>
                        </a:spcAft>
                        <a:buNone/>
                      </a:pPr>
                      <a:r>
                        <a:rPr lang="en-US" sz="1000"/>
                        <a:t>Vishwa Rachotimath</a:t>
                      </a:r>
                      <a:endParaRPr sz="1000"/>
                    </a:p>
                  </a:txBody>
                  <a:tcPr marT="34300" marB="34300" marR="91450" marL="91450" anchor="ctr">
                    <a:noFill/>
                  </a:tcPr>
                </a:tc>
              </a:tr>
            </a:tbl>
          </a:graphicData>
        </a:graphic>
      </p:graphicFrame>
      <p:sp>
        <p:nvSpPr>
          <p:cNvPr id="106" name="Google Shape;106;p1"/>
          <p:cNvSpPr/>
          <p:nvPr/>
        </p:nvSpPr>
        <p:spPr>
          <a:xfrm>
            <a:off x="1008755" y="1540863"/>
            <a:ext cx="8458200" cy="4770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500" u="none" cap="none" strike="noStrike">
                <a:solidFill>
                  <a:schemeClr val="accent1"/>
                </a:solidFill>
                <a:latin typeface="Calibri"/>
                <a:ea typeface="Calibri"/>
                <a:cs typeface="Calibri"/>
                <a:sym typeface="Calibri"/>
              </a:rPr>
              <a:t>Title: </a:t>
            </a:r>
            <a:r>
              <a:rPr b="1" lang="en-US" sz="2500">
                <a:solidFill>
                  <a:schemeClr val="accent1"/>
                </a:solidFill>
                <a:latin typeface="Calibri"/>
                <a:ea typeface="Calibri"/>
                <a:cs typeface="Calibri"/>
                <a:sym typeface="Calibri"/>
              </a:rPr>
              <a:t>Motor Safety Interlock with Multi-Sensor Check</a:t>
            </a:r>
            <a:endParaRPr b="1" i="0" sz="2500" u="none" cap="none" strike="noStrike">
              <a:solidFill>
                <a:schemeClr val="accen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cxnSp>
        <p:nvCxnSpPr>
          <p:cNvPr id="111" name="Google Shape;111;p2"/>
          <p:cNvCxnSpPr/>
          <p:nvPr/>
        </p:nvCxnSpPr>
        <p:spPr>
          <a:xfrm>
            <a:off x="304800" y="475598"/>
            <a:ext cx="8534400" cy="0"/>
          </a:xfrm>
          <a:prstGeom prst="straightConnector1">
            <a:avLst/>
          </a:prstGeom>
          <a:noFill/>
          <a:ln cap="flat" cmpd="thickThin" w="38100">
            <a:solidFill>
              <a:srgbClr val="0070C0"/>
            </a:solidFill>
            <a:prstDash val="solid"/>
            <a:miter lim="800000"/>
            <a:headEnd len="sm" w="sm" type="none"/>
            <a:tailEnd len="sm" w="sm" type="none"/>
          </a:ln>
        </p:spPr>
      </p:cxnSp>
      <p:sp>
        <p:nvSpPr>
          <p:cNvPr id="112" name="Google Shape;112;p2"/>
          <p:cNvSpPr/>
          <p:nvPr/>
        </p:nvSpPr>
        <p:spPr>
          <a:xfrm>
            <a:off x="0" y="4914900"/>
            <a:ext cx="9144000" cy="228600"/>
          </a:xfrm>
          <a:prstGeom prst="rect">
            <a:avLst/>
          </a:prstGeom>
          <a:solidFill>
            <a:srgbClr val="BBD6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2"/>
          <p:cNvSpPr txBox="1"/>
          <p:nvPr>
            <p:ph idx="10" type="dt"/>
          </p:nvPr>
        </p:nvSpPr>
        <p:spPr>
          <a:xfrm>
            <a:off x="190500" y="4975081"/>
            <a:ext cx="25146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rgbClr val="002060"/>
                </a:solidFill>
                <a:latin typeface="Times New Roman"/>
                <a:ea typeface="Times New Roman"/>
                <a:cs typeface="Times New Roman"/>
                <a:sym typeface="Times New Roman"/>
              </a:rPr>
              <a:t>12/01/2026</a:t>
            </a:r>
            <a:endParaRPr b="1" sz="1100">
              <a:solidFill>
                <a:srgbClr val="002060"/>
              </a:solidFill>
              <a:latin typeface="Times New Roman"/>
              <a:ea typeface="Times New Roman"/>
              <a:cs typeface="Times New Roman"/>
              <a:sym typeface="Times New Roman"/>
            </a:endParaRPr>
          </a:p>
          <a:p>
            <a:pPr indent="0" lvl="0" marL="0" rtl="0" algn="ctr">
              <a:spcBef>
                <a:spcPts val="0"/>
              </a:spcBef>
              <a:spcAft>
                <a:spcPts val="0"/>
              </a:spcAft>
              <a:buNone/>
            </a:pPr>
            <a:r>
              <a:t/>
            </a:r>
            <a:endParaRPr b="1" sz="1100">
              <a:solidFill>
                <a:schemeClr val="dk1"/>
              </a:solidFill>
              <a:latin typeface="Times New Roman"/>
              <a:ea typeface="Times New Roman"/>
              <a:cs typeface="Times New Roman"/>
              <a:sym typeface="Times New Roman"/>
            </a:endParaRPr>
          </a:p>
        </p:txBody>
      </p:sp>
      <p:sp>
        <p:nvSpPr>
          <p:cNvPr id="114" name="Google Shape;114;p2"/>
          <p:cNvSpPr txBox="1"/>
          <p:nvPr>
            <p:ph idx="11" type="ftr"/>
          </p:nvPr>
        </p:nvSpPr>
        <p:spPr>
          <a:xfrm>
            <a:off x="3239069" y="4892278"/>
            <a:ext cx="3352801"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School of  ECE</a:t>
            </a:r>
            <a:endParaRPr/>
          </a:p>
        </p:txBody>
      </p:sp>
      <p:sp>
        <p:nvSpPr>
          <p:cNvPr id="115" name="Google Shape;115;p2"/>
          <p:cNvSpPr txBox="1"/>
          <p:nvPr>
            <p:ph idx="12" type="sldNum"/>
          </p:nvPr>
        </p:nvSpPr>
        <p:spPr>
          <a:xfrm>
            <a:off x="6629400" y="4873068"/>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Times New Roman"/>
                <a:ea typeface="Times New Roman"/>
                <a:cs typeface="Times New Roman"/>
                <a:sym typeface="Times New Roman"/>
              </a:rPr>
              <a:t>2</a:t>
            </a:r>
            <a:endParaRPr sz="1200">
              <a:solidFill>
                <a:srgbClr val="002060"/>
              </a:solidFill>
              <a:latin typeface="Times New Roman"/>
              <a:ea typeface="Times New Roman"/>
              <a:cs typeface="Times New Roman"/>
              <a:sym typeface="Times New Roman"/>
            </a:endParaRPr>
          </a:p>
        </p:txBody>
      </p:sp>
      <p:sp>
        <p:nvSpPr>
          <p:cNvPr id="116" name="Google Shape;116;p2"/>
          <p:cNvSpPr/>
          <p:nvPr/>
        </p:nvSpPr>
        <p:spPr>
          <a:xfrm>
            <a:off x="210418" y="636901"/>
            <a:ext cx="3028651"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chemeClr val="dk1"/>
                </a:solidFill>
                <a:latin typeface="Calibri"/>
                <a:ea typeface="Calibri"/>
                <a:cs typeface="Calibri"/>
                <a:sym typeface="Calibri"/>
              </a:rPr>
              <a:t>PROBLEM STATEMENT</a:t>
            </a:r>
            <a:endParaRPr/>
          </a:p>
        </p:txBody>
      </p:sp>
      <p:sp>
        <p:nvSpPr>
          <p:cNvPr id="117" name="Google Shape;117;p2"/>
          <p:cNvSpPr/>
          <p:nvPr/>
        </p:nvSpPr>
        <p:spPr>
          <a:xfrm>
            <a:off x="226075" y="1064200"/>
            <a:ext cx="8222906"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Motor Safety Interlock with Multi-Sensor Check Scenario: DC/stepper motors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operate only if temperature, gas, and ultrasonic readings are safe; motor stops immediately 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unsafe conditions; logs event.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Tasks: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Temp sensor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 Gas sensor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 Ultrasonic sensor</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 Motor</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control task Kernel Objects: Event flag group, semaphore, message queue</a:t>
            </a:r>
            <a:endParaRPr sz="1800">
              <a:solidFill>
                <a:schemeClr val="dk1"/>
              </a:solidFill>
              <a:latin typeface="Calibri"/>
              <a:ea typeface="Calibri"/>
              <a:cs typeface="Calibri"/>
              <a:sym typeface="Calibri"/>
            </a:endParaRPr>
          </a:p>
        </p:txBody>
      </p:sp>
      <p:pic>
        <p:nvPicPr>
          <p:cNvPr id="118" name="Google Shape;118;p2"/>
          <p:cNvPicPr preferRelativeResize="0"/>
          <p:nvPr/>
        </p:nvPicPr>
        <p:blipFill rotWithShape="1">
          <a:blip r:embed="rId3">
            <a:alphaModFix/>
          </a:blip>
          <a:srcRect b="16827" l="1673" r="2922" t="18483"/>
          <a:stretch/>
        </p:blipFill>
        <p:spPr>
          <a:xfrm>
            <a:off x="5943600" y="71237"/>
            <a:ext cx="2895600" cy="351523"/>
          </a:xfrm>
          <a:prstGeom prst="rect">
            <a:avLst/>
          </a:prstGeom>
          <a:noFill/>
          <a:ln>
            <a:noFill/>
          </a:ln>
        </p:spPr>
      </p:pic>
      <p:sp>
        <p:nvSpPr>
          <p:cNvPr id="119" name="Google Shape;119;p2"/>
          <p:cNvSpPr/>
          <p:nvPr/>
        </p:nvSpPr>
        <p:spPr>
          <a:xfrm>
            <a:off x="228600" y="83475"/>
            <a:ext cx="6635100" cy="35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2060"/>
              </a:buClr>
              <a:buSzPts val="2200"/>
              <a:buFont typeface="Calibri"/>
              <a:buNone/>
            </a:pPr>
            <a:r>
              <a:rPr b="1" lang="en-US" sz="1900">
                <a:solidFill>
                  <a:srgbClr val="002060"/>
                </a:solidFill>
                <a:latin typeface="Calibri"/>
                <a:ea typeface="Calibri"/>
                <a:cs typeface="Calibri"/>
                <a:sym typeface="Calibri"/>
              </a:rPr>
              <a:t>Title: Motor Safety Interlock with Multi-Sensor Check</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cxnSp>
        <p:nvCxnSpPr>
          <p:cNvPr id="124" name="Google Shape;124;p3"/>
          <p:cNvCxnSpPr/>
          <p:nvPr/>
        </p:nvCxnSpPr>
        <p:spPr>
          <a:xfrm>
            <a:off x="304800" y="475598"/>
            <a:ext cx="8534400" cy="0"/>
          </a:xfrm>
          <a:prstGeom prst="straightConnector1">
            <a:avLst/>
          </a:prstGeom>
          <a:noFill/>
          <a:ln cap="flat" cmpd="thickThin" w="38100">
            <a:solidFill>
              <a:srgbClr val="0070C0"/>
            </a:solidFill>
            <a:prstDash val="solid"/>
            <a:miter lim="800000"/>
            <a:headEnd len="sm" w="sm" type="none"/>
            <a:tailEnd len="sm" w="sm" type="none"/>
          </a:ln>
        </p:spPr>
      </p:cxnSp>
      <p:sp>
        <p:nvSpPr>
          <p:cNvPr id="125" name="Google Shape;125;p3"/>
          <p:cNvSpPr/>
          <p:nvPr/>
        </p:nvSpPr>
        <p:spPr>
          <a:xfrm>
            <a:off x="0" y="4914900"/>
            <a:ext cx="9144000" cy="228600"/>
          </a:xfrm>
          <a:prstGeom prst="rect">
            <a:avLst/>
          </a:prstGeom>
          <a:solidFill>
            <a:srgbClr val="BBD6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3"/>
          <p:cNvSpPr txBox="1"/>
          <p:nvPr>
            <p:ph idx="10" type="dt"/>
          </p:nvPr>
        </p:nvSpPr>
        <p:spPr>
          <a:xfrm>
            <a:off x="190500" y="4975359"/>
            <a:ext cx="25146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rgbClr val="002060"/>
                </a:solidFill>
                <a:latin typeface="Times New Roman"/>
                <a:ea typeface="Times New Roman"/>
                <a:cs typeface="Times New Roman"/>
                <a:sym typeface="Times New Roman"/>
              </a:rPr>
              <a:t>12/01/2026</a:t>
            </a:r>
            <a:endParaRPr b="1" sz="1100">
              <a:solidFill>
                <a:srgbClr val="002060"/>
              </a:solidFill>
              <a:latin typeface="Times New Roman"/>
              <a:ea typeface="Times New Roman"/>
              <a:cs typeface="Times New Roman"/>
              <a:sym typeface="Times New Roman"/>
            </a:endParaRPr>
          </a:p>
          <a:p>
            <a:pPr indent="0" lvl="0" marL="0" rtl="0" algn="ctr">
              <a:spcBef>
                <a:spcPts val="0"/>
              </a:spcBef>
              <a:spcAft>
                <a:spcPts val="0"/>
              </a:spcAft>
              <a:buNone/>
            </a:pPr>
            <a:r>
              <a:t/>
            </a:r>
            <a:endParaRPr b="1" sz="1100">
              <a:solidFill>
                <a:schemeClr val="dk1"/>
              </a:solidFill>
              <a:latin typeface="Times New Roman"/>
              <a:ea typeface="Times New Roman"/>
              <a:cs typeface="Times New Roman"/>
              <a:sym typeface="Times New Roman"/>
            </a:endParaRPr>
          </a:p>
        </p:txBody>
      </p:sp>
      <p:sp>
        <p:nvSpPr>
          <p:cNvPr id="127" name="Google Shape;127;p3"/>
          <p:cNvSpPr txBox="1"/>
          <p:nvPr>
            <p:ph idx="11" type="ftr"/>
          </p:nvPr>
        </p:nvSpPr>
        <p:spPr>
          <a:xfrm>
            <a:off x="3239069" y="4892278"/>
            <a:ext cx="3352801"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School of  ECE</a:t>
            </a:r>
            <a:endParaRPr/>
          </a:p>
        </p:txBody>
      </p:sp>
      <p:sp>
        <p:nvSpPr>
          <p:cNvPr id="128" name="Google Shape;128;p3"/>
          <p:cNvSpPr txBox="1"/>
          <p:nvPr>
            <p:ph idx="12" type="sldNum"/>
          </p:nvPr>
        </p:nvSpPr>
        <p:spPr>
          <a:xfrm>
            <a:off x="6629400" y="4873068"/>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Times New Roman"/>
                <a:ea typeface="Times New Roman"/>
                <a:cs typeface="Times New Roman"/>
                <a:sym typeface="Times New Roman"/>
              </a:rPr>
              <a:t>3</a:t>
            </a:r>
            <a:endParaRPr/>
          </a:p>
        </p:txBody>
      </p:sp>
      <p:sp>
        <p:nvSpPr>
          <p:cNvPr id="129" name="Google Shape;129;p3"/>
          <p:cNvSpPr/>
          <p:nvPr/>
        </p:nvSpPr>
        <p:spPr>
          <a:xfrm>
            <a:off x="226075" y="602535"/>
            <a:ext cx="220291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INTRODUCTION</a:t>
            </a:r>
            <a:endParaRPr/>
          </a:p>
        </p:txBody>
      </p:sp>
      <p:pic>
        <p:nvPicPr>
          <p:cNvPr id="130" name="Google Shape;130;p3"/>
          <p:cNvPicPr preferRelativeResize="0"/>
          <p:nvPr/>
        </p:nvPicPr>
        <p:blipFill rotWithShape="1">
          <a:blip r:embed="rId3">
            <a:alphaModFix/>
          </a:blip>
          <a:srcRect b="16827" l="1673" r="2922" t="18483"/>
          <a:stretch/>
        </p:blipFill>
        <p:spPr>
          <a:xfrm>
            <a:off x="5943600" y="71237"/>
            <a:ext cx="2895600" cy="351523"/>
          </a:xfrm>
          <a:prstGeom prst="rect">
            <a:avLst/>
          </a:prstGeom>
          <a:noFill/>
          <a:ln>
            <a:noFill/>
          </a:ln>
        </p:spPr>
      </p:pic>
      <p:sp>
        <p:nvSpPr>
          <p:cNvPr id="131" name="Google Shape;131;p3"/>
          <p:cNvSpPr/>
          <p:nvPr/>
        </p:nvSpPr>
        <p:spPr>
          <a:xfrm>
            <a:off x="228600" y="83473"/>
            <a:ext cx="5535900" cy="351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2060"/>
              </a:buClr>
              <a:buSzPts val="2200"/>
              <a:buFont typeface="Calibri"/>
              <a:buNone/>
            </a:pPr>
            <a:r>
              <a:rPr b="1" lang="en-US" sz="1900">
                <a:solidFill>
                  <a:srgbClr val="002060"/>
                </a:solidFill>
                <a:latin typeface="Calibri"/>
                <a:ea typeface="Calibri"/>
                <a:cs typeface="Calibri"/>
                <a:sym typeface="Calibri"/>
              </a:rPr>
              <a:t>Title: Motor Safety Interlock with Multi-Sensor Check</a:t>
            </a:r>
            <a:endParaRPr/>
          </a:p>
        </p:txBody>
      </p:sp>
      <p:sp>
        <p:nvSpPr>
          <p:cNvPr id="132" name="Google Shape;132;p3"/>
          <p:cNvSpPr txBox="1"/>
          <p:nvPr/>
        </p:nvSpPr>
        <p:spPr>
          <a:xfrm>
            <a:off x="226075" y="1028164"/>
            <a:ext cx="8613125"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Industrial and domestic motor-driven systems require high safety standards to avoid accidents caused by overheating, gas leakage, or unexpected obstacles. Manual monitoring is unreliable and slow.</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This project implements a </a:t>
            </a:r>
            <a:r>
              <a:rPr b="1" lang="en-US" sz="1800">
                <a:solidFill>
                  <a:schemeClr val="dk1"/>
                </a:solidFill>
                <a:latin typeface="Calibri"/>
                <a:ea typeface="Calibri"/>
                <a:cs typeface="Calibri"/>
                <a:sym typeface="Calibri"/>
              </a:rPr>
              <a:t>Motor Safety Interlock System</a:t>
            </a:r>
            <a:r>
              <a:rPr lang="en-US" sz="1800">
                <a:solidFill>
                  <a:schemeClr val="dk1"/>
                </a:solidFill>
                <a:latin typeface="Calibri"/>
                <a:ea typeface="Calibri"/>
                <a:cs typeface="Calibri"/>
                <a:sym typeface="Calibri"/>
              </a:rPr>
              <a:t> using multiple sensors and an RTOS on the LPC1768 microcontroller. Temperature, gas, and ultrasonic sensors continuously monitor the environment. Based on these readings, the RTOS coordinates multiple tasks to ensure the motor operates only under safe conditions.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system improves reliability, response time, and fault handling using multitasking and inter-task communication.</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cxnSp>
        <p:nvCxnSpPr>
          <p:cNvPr id="137" name="Google Shape;137;p4"/>
          <p:cNvCxnSpPr/>
          <p:nvPr/>
        </p:nvCxnSpPr>
        <p:spPr>
          <a:xfrm>
            <a:off x="304800" y="475598"/>
            <a:ext cx="8534400" cy="0"/>
          </a:xfrm>
          <a:prstGeom prst="straightConnector1">
            <a:avLst/>
          </a:prstGeom>
          <a:noFill/>
          <a:ln cap="flat" cmpd="thickThin" w="38100">
            <a:solidFill>
              <a:srgbClr val="0070C0"/>
            </a:solidFill>
            <a:prstDash val="solid"/>
            <a:miter lim="800000"/>
            <a:headEnd len="sm" w="sm" type="none"/>
            <a:tailEnd len="sm" w="sm" type="none"/>
          </a:ln>
        </p:spPr>
      </p:cxnSp>
      <p:sp>
        <p:nvSpPr>
          <p:cNvPr id="138" name="Google Shape;138;p4"/>
          <p:cNvSpPr/>
          <p:nvPr/>
        </p:nvSpPr>
        <p:spPr>
          <a:xfrm>
            <a:off x="0" y="4914900"/>
            <a:ext cx="9144000" cy="228600"/>
          </a:xfrm>
          <a:prstGeom prst="rect">
            <a:avLst/>
          </a:prstGeom>
          <a:solidFill>
            <a:srgbClr val="BBD6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4"/>
          <p:cNvSpPr txBox="1"/>
          <p:nvPr>
            <p:ph idx="10" type="dt"/>
          </p:nvPr>
        </p:nvSpPr>
        <p:spPr>
          <a:xfrm>
            <a:off x="190500" y="4953651"/>
            <a:ext cx="25146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rgbClr val="002060"/>
                </a:solidFill>
                <a:latin typeface="Times New Roman"/>
                <a:ea typeface="Times New Roman"/>
                <a:cs typeface="Times New Roman"/>
                <a:sym typeface="Times New Roman"/>
              </a:rPr>
              <a:t>12/01/2026</a:t>
            </a:r>
            <a:endParaRPr b="1" sz="1100">
              <a:solidFill>
                <a:srgbClr val="002060"/>
              </a:solidFill>
              <a:latin typeface="Times New Roman"/>
              <a:ea typeface="Times New Roman"/>
              <a:cs typeface="Times New Roman"/>
              <a:sym typeface="Times New Roman"/>
            </a:endParaRPr>
          </a:p>
          <a:p>
            <a:pPr indent="0" lvl="0" marL="0" rtl="0" algn="ctr">
              <a:spcBef>
                <a:spcPts val="0"/>
              </a:spcBef>
              <a:spcAft>
                <a:spcPts val="0"/>
              </a:spcAft>
              <a:buNone/>
            </a:pPr>
            <a:r>
              <a:t/>
            </a:r>
            <a:endParaRPr b="1" sz="1100">
              <a:solidFill>
                <a:schemeClr val="dk1"/>
              </a:solidFill>
              <a:latin typeface="Times New Roman"/>
              <a:ea typeface="Times New Roman"/>
              <a:cs typeface="Times New Roman"/>
              <a:sym typeface="Times New Roman"/>
            </a:endParaRPr>
          </a:p>
        </p:txBody>
      </p:sp>
      <p:sp>
        <p:nvSpPr>
          <p:cNvPr id="140" name="Google Shape;140;p4"/>
          <p:cNvSpPr txBox="1"/>
          <p:nvPr>
            <p:ph idx="11" type="ftr"/>
          </p:nvPr>
        </p:nvSpPr>
        <p:spPr>
          <a:xfrm>
            <a:off x="3239069" y="4892278"/>
            <a:ext cx="3352801"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School of  ECE</a:t>
            </a:r>
            <a:endParaRPr/>
          </a:p>
        </p:txBody>
      </p:sp>
      <p:sp>
        <p:nvSpPr>
          <p:cNvPr id="141" name="Google Shape;141;p4"/>
          <p:cNvSpPr txBox="1"/>
          <p:nvPr>
            <p:ph idx="12" type="sldNum"/>
          </p:nvPr>
        </p:nvSpPr>
        <p:spPr>
          <a:xfrm>
            <a:off x="6629400" y="4873068"/>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Times New Roman"/>
                <a:ea typeface="Times New Roman"/>
                <a:cs typeface="Times New Roman"/>
                <a:sym typeface="Times New Roman"/>
              </a:rPr>
              <a:t>4</a:t>
            </a:r>
            <a:endParaRPr/>
          </a:p>
        </p:txBody>
      </p:sp>
      <p:sp>
        <p:nvSpPr>
          <p:cNvPr id="142" name="Google Shape;142;p4"/>
          <p:cNvSpPr/>
          <p:nvPr/>
        </p:nvSpPr>
        <p:spPr>
          <a:xfrm>
            <a:off x="152400" y="605250"/>
            <a:ext cx="247557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Problem Analysis</a:t>
            </a:r>
            <a:endParaRPr b="1" sz="2400">
              <a:solidFill>
                <a:schemeClr val="dk1"/>
              </a:solidFill>
              <a:latin typeface="Calibri"/>
              <a:ea typeface="Calibri"/>
              <a:cs typeface="Calibri"/>
              <a:sym typeface="Calibri"/>
            </a:endParaRPr>
          </a:p>
        </p:txBody>
      </p:sp>
      <p:pic>
        <p:nvPicPr>
          <p:cNvPr id="143" name="Google Shape;143;p4"/>
          <p:cNvPicPr preferRelativeResize="0"/>
          <p:nvPr/>
        </p:nvPicPr>
        <p:blipFill rotWithShape="1">
          <a:blip r:embed="rId3">
            <a:alphaModFix/>
          </a:blip>
          <a:srcRect b="16827" l="1673" r="2922" t="18483"/>
          <a:stretch/>
        </p:blipFill>
        <p:spPr>
          <a:xfrm>
            <a:off x="5943600" y="71237"/>
            <a:ext cx="2895600" cy="351523"/>
          </a:xfrm>
          <a:prstGeom prst="rect">
            <a:avLst/>
          </a:prstGeom>
          <a:noFill/>
          <a:ln>
            <a:noFill/>
          </a:ln>
        </p:spPr>
      </p:pic>
      <p:sp>
        <p:nvSpPr>
          <p:cNvPr id="144" name="Google Shape;144;p4"/>
          <p:cNvSpPr/>
          <p:nvPr/>
        </p:nvSpPr>
        <p:spPr>
          <a:xfrm>
            <a:off x="228600" y="83475"/>
            <a:ext cx="5525400" cy="461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2060"/>
              </a:buClr>
              <a:buSzPts val="2200"/>
              <a:buFont typeface="Calibri"/>
              <a:buNone/>
            </a:pPr>
            <a:r>
              <a:rPr b="1" lang="en-US" sz="1900">
                <a:solidFill>
                  <a:srgbClr val="002060"/>
                </a:solidFill>
                <a:latin typeface="Calibri"/>
                <a:ea typeface="Calibri"/>
                <a:cs typeface="Calibri"/>
                <a:sym typeface="Calibri"/>
              </a:rPr>
              <a:t>Title: Motor Safety Interlock with Multi-Sensor Check</a:t>
            </a:r>
            <a:endParaRPr/>
          </a:p>
        </p:txBody>
      </p:sp>
      <p:sp>
        <p:nvSpPr>
          <p:cNvPr id="145" name="Google Shape;145;p4"/>
          <p:cNvSpPr txBox="1"/>
          <p:nvPr/>
        </p:nvSpPr>
        <p:spPr>
          <a:xfrm>
            <a:off x="226075" y="1028164"/>
            <a:ext cx="8613125" cy="38164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Features selected:</a:t>
            </a:r>
            <a:endParaRPr/>
          </a:p>
          <a:p>
            <a:pPr indent="0" lvl="0" marL="0" marR="0" rtl="0" algn="l">
              <a:spcBef>
                <a:spcPts val="120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120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p:txBody>
      </p:sp>
      <p:graphicFrame>
        <p:nvGraphicFramePr>
          <p:cNvPr id="146" name="Google Shape;146;p4"/>
          <p:cNvGraphicFramePr/>
          <p:nvPr/>
        </p:nvGraphicFramePr>
        <p:xfrm>
          <a:off x="628650" y="1400969"/>
          <a:ext cx="3000000" cy="3000000"/>
        </p:xfrm>
        <a:graphic>
          <a:graphicData uri="http://schemas.openxmlformats.org/drawingml/2006/table">
            <a:tbl>
              <a:tblPr>
                <a:noFill/>
                <a:tableStyleId>{A778600F-DE87-485F-BD25-3D1D466197A8}</a:tableStyleId>
              </a:tblPr>
              <a:tblGrid>
                <a:gridCol w="3943350"/>
                <a:gridCol w="3943350"/>
              </a:tblGrid>
              <a:tr h="171450">
                <a:tc>
                  <a:txBody>
                    <a:bodyPr/>
                    <a:lstStyle/>
                    <a:p>
                      <a:pPr indent="0" lvl="0" marL="0" marR="0" rtl="0" algn="l">
                        <a:spcBef>
                          <a:spcPts val="0"/>
                        </a:spcBef>
                        <a:spcAft>
                          <a:spcPts val="0"/>
                        </a:spcAft>
                        <a:buNone/>
                      </a:pPr>
                      <a:r>
                        <a:rPr lang="en-US" sz="1350"/>
                        <a:t>Feature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spcBef>
                          <a:spcPts val="0"/>
                        </a:spcBef>
                        <a:spcAft>
                          <a:spcPts val="0"/>
                        </a:spcAft>
                        <a:buNone/>
                      </a:pPr>
                      <a:r>
                        <a:rPr lang="en-US" sz="1350"/>
                        <a:t>Description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171450">
                <a:tc>
                  <a:txBody>
                    <a:bodyPr/>
                    <a:lstStyle/>
                    <a:p>
                      <a:pPr indent="0" lvl="0" marL="0" marR="0" rtl="0" algn="l">
                        <a:spcBef>
                          <a:spcPts val="0"/>
                        </a:spcBef>
                        <a:spcAft>
                          <a:spcPts val="0"/>
                        </a:spcAft>
                        <a:buNone/>
                      </a:pPr>
                      <a:r>
                        <a:rPr lang="en-US" sz="1350"/>
                        <a:t>Temperature Monitoring</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spcBef>
                          <a:spcPts val="0"/>
                        </a:spcBef>
                        <a:spcAft>
                          <a:spcPts val="0"/>
                        </a:spcAft>
                        <a:buNone/>
                      </a:pPr>
                      <a:r>
                        <a:rPr lang="en-US" sz="1350"/>
                        <a:t>Continuously measures temperature to detect overheating conditions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171450">
                <a:tc>
                  <a:txBody>
                    <a:bodyPr/>
                    <a:lstStyle/>
                    <a:p>
                      <a:pPr indent="0" lvl="0" marL="0" marR="0" rtl="0" algn="l">
                        <a:spcBef>
                          <a:spcPts val="0"/>
                        </a:spcBef>
                        <a:spcAft>
                          <a:spcPts val="0"/>
                        </a:spcAft>
                        <a:buNone/>
                      </a:pPr>
                      <a:r>
                        <a:rPr lang="en-US" sz="1350"/>
                        <a:t>Gas Detection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spcBef>
                          <a:spcPts val="0"/>
                        </a:spcBef>
                        <a:spcAft>
                          <a:spcPts val="0"/>
                        </a:spcAft>
                        <a:buNone/>
                      </a:pPr>
                      <a:r>
                        <a:rPr lang="en-US" sz="1350"/>
                        <a:t>Identifies presence of harmful or combustible gases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171450">
                <a:tc>
                  <a:txBody>
                    <a:bodyPr/>
                    <a:lstStyle/>
                    <a:p>
                      <a:pPr indent="0" lvl="0" marL="0" marR="0" rtl="0" algn="l">
                        <a:spcBef>
                          <a:spcPts val="0"/>
                        </a:spcBef>
                        <a:spcAft>
                          <a:spcPts val="0"/>
                        </a:spcAft>
                        <a:buNone/>
                      </a:pPr>
                      <a:r>
                        <a:rPr lang="en-US" sz="1350"/>
                        <a:t>Obstacle Detection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spcBef>
                          <a:spcPts val="0"/>
                        </a:spcBef>
                        <a:spcAft>
                          <a:spcPts val="0"/>
                        </a:spcAft>
                        <a:buNone/>
                      </a:pPr>
                      <a:r>
                        <a:rPr lang="en-US" sz="1350"/>
                        <a:t>Measures distance to nearby objects using ultrasonic sensor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171450">
                <a:tc>
                  <a:txBody>
                    <a:bodyPr/>
                    <a:lstStyle/>
                    <a:p>
                      <a:pPr indent="0" lvl="0" marL="0" marR="0" rtl="0" algn="l">
                        <a:spcBef>
                          <a:spcPts val="0"/>
                        </a:spcBef>
                        <a:spcAft>
                          <a:spcPts val="0"/>
                        </a:spcAft>
                        <a:buNone/>
                      </a:pPr>
                      <a:r>
                        <a:rPr lang="en-US" sz="1350"/>
                        <a:t>Automatic Motor Shutdown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spcBef>
                          <a:spcPts val="0"/>
                        </a:spcBef>
                        <a:spcAft>
                          <a:spcPts val="0"/>
                        </a:spcAft>
                        <a:buNone/>
                      </a:pPr>
                      <a:r>
                        <a:rPr lang="en-US" sz="1350"/>
                        <a:t>Instantly stops motor when unsafe condition occurs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171450">
                <a:tc>
                  <a:txBody>
                    <a:bodyPr/>
                    <a:lstStyle/>
                    <a:p>
                      <a:pPr indent="0" lvl="0" marL="0" marR="0" rtl="0" algn="l">
                        <a:spcBef>
                          <a:spcPts val="0"/>
                        </a:spcBef>
                        <a:spcAft>
                          <a:spcPts val="0"/>
                        </a:spcAft>
                        <a:buNone/>
                      </a:pPr>
                      <a:r>
                        <a:rPr lang="en-US" sz="1350"/>
                        <a:t>Event Logging</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spcBef>
                          <a:spcPts val="0"/>
                        </a:spcBef>
                        <a:spcAft>
                          <a:spcPts val="0"/>
                        </a:spcAft>
                        <a:buNone/>
                      </a:pPr>
                      <a:r>
                        <a:rPr lang="en-US" sz="1350"/>
                        <a:t>Stores unsafe condition data through UART communication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171450">
                <a:tc>
                  <a:txBody>
                    <a:bodyPr/>
                    <a:lstStyle/>
                    <a:p>
                      <a:pPr indent="0" lvl="0" marL="0" marR="0" rtl="0" algn="l">
                        <a:spcBef>
                          <a:spcPts val="0"/>
                        </a:spcBef>
                        <a:spcAft>
                          <a:spcPts val="0"/>
                        </a:spcAft>
                        <a:buNone/>
                      </a:pPr>
                      <a:r>
                        <a:rPr lang="en-US" sz="1350"/>
                        <a:t>RTOS Multitasking</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spcBef>
                          <a:spcPts val="0"/>
                        </a:spcBef>
                        <a:spcAft>
                          <a:spcPts val="0"/>
                        </a:spcAft>
                        <a:buNone/>
                      </a:pPr>
                      <a:r>
                        <a:rPr lang="en-US" sz="1350"/>
                        <a:t>Executes multiple sensor and control tasks simultaneously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171450">
                <a:tc>
                  <a:txBody>
                    <a:bodyPr/>
                    <a:lstStyle/>
                    <a:p>
                      <a:pPr indent="0" lvl="0" marL="0" marR="0" rtl="0" algn="l">
                        <a:spcBef>
                          <a:spcPts val="0"/>
                        </a:spcBef>
                        <a:spcAft>
                          <a:spcPts val="0"/>
                        </a:spcAft>
                        <a:buNone/>
                      </a:pPr>
                      <a:r>
                        <a:rPr lang="en-US" sz="1350"/>
                        <a:t>Task Synchronization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spcBef>
                          <a:spcPts val="0"/>
                        </a:spcBef>
                        <a:spcAft>
                          <a:spcPts val="0"/>
                        </a:spcAft>
                        <a:buNone/>
                      </a:pPr>
                      <a:r>
                        <a:rPr lang="en-US" sz="1350"/>
                        <a:t>Coordinates tasks using kernel objects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cxnSp>
        <p:nvCxnSpPr>
          <p:cNvPr id="151" name="Google Shape;151;p5"/>
          <p:cNvCxnSpPr/>
          <p:nvPr/>
        </p:nvCxnSpPr>
        <p:spPr>
          <a:xfrm>
            <a:off x="304800" y="475598"/>
            <a:ext cx="8534400" cy="0"/>
          </a:xfrm>
          <a:prstGeom prst="straightConnector1">
            <a:avLst/>
          </a:prstGeom>
          <a:noFill/>
          <a:ln cap="flat" cmpd="thickThin" w="38100">
            <a:solidFill>
              <a:srgbClr val="0070C0"/>
            </a:solidFill>
            <a:prstDash val="solid"/>
            <a:miter lim="800000"/>
            <a:headEnd len="sm" w="sm" type="none"/>
            <a:tailEnd len="sm" w="sm" type="none"/>
          </a:ln>
        </p:spPr>
      </p:cxnSp>
      <p:sp>
        <p:nvSpPr>
          <p:cNvPr id="152" name="Google Shape;152;p5"/>
          <p:cNvSpPr/>
          <p:nvPr/>
        </p:nvSpPr>
        <p:spPr>
          <a:xfrm>
            <a:off x="0" y="4914900"/>
            <a:ext cx="9144000" cy="228600"/>
          </a:xfrm>
          <a:prstGeom prst="rect">
            <a:avLst/>
          </a:prstGeom>
          <a:solidFill>
            <a:srgbClr val="BBD6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5"/>
          <p:cNvSpPr txBox="1"/>
          <p:nvPr>
            <p:ph idx="10" type="dt"/>
          </p:nvPr>
        </p:nvSpPr>
        <p:spPr>
          <a:xfrm>
            <a:off x="152400" y="4892278"/>
            <a:ext cx="25146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rgbClr val="002060"/>
                </a:solidFill>
                <a:latin typeface="Times New Roman"/>
                <a:ea typeface="Times New Roman"/>
                <a:cs typeface="Times New Roman"/>
                <a:sym typeface="Times New Roman"/>
              </a:rPr>
              <a:t>12/01/2026</a:t>
            </a:r>
            <a:endParaRPr b="1" sz="1100">
              <a:solidFill>
                <a:srgbClr val="002060"/>
              </a:solidFill>
              <a:latin typeface="Times New Roman"/>
              <a:ea typeface="Times New Roman"/>
              <a:cs typeface="Times New Roman"/>
              <a:sym typeface="Times New Roman"/>
            </a:endParaRPr>
          </a:p>
        </p:txBody>
      </p:sp>
      <p:sp>
        <p:nvSpPr>
          <p:cNvPr id="154" name="Google Shape;154;p5"/>
          <p:cNvSpPr txBox="1"/>
          <p:nvPr>
            <p:ph idx="11" type="ftr"/>
          </p:nvPr>
        </p:nvSpPr>
        <p:spPr>
          <a:xfrm>
            <a:off x="3239069" y="4892278"/>
            <a:ext cx="3352801"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School of  ECE</a:t>
            </a:r>
            <a:endParaRPr/>
          </a:p>
        </p:txBody>
      </p:sp>
      <p:sp>
        <p:nvSpPr>
          <p:cNvPr id="155" name="Google Shape;155;p5"/>
          <p:cNvSpPr txBox="1"/>
          <p:nvPr>
            <p:ph idx="12" type="sldNum"/>
          </p:nvPr>
        </p:nvSpPr>
        <p:spPr>
          <a:xfrm>
            <a:off x="6629400" y="4873068"/>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Times New Roman"/>
                <a:ea typeface="Times New Roman"/>
                <a:cs typeface="Times New Roman"/>
                <a:sym typeface="Times New Roman"/>
              </a:rPr>
              <a:t>5</a:t>
            </a:r>
            <a:endParaRPr/>
          </a:p>
        </p:txBody>
      </p:sp>
      <p:sp>
        <p:nvSpPr>
          <p:cNvPr id="156" name="Google Shape;156;p5"/>
          <p:cNvSpPr/>
          <p:nvPr/>
        </p:nvSpPr>
        <p:spPr>
          <a:xfrm>
            <a:off x="152400" y="597094"/>
            <a:ext cx="247557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Problem Analysis</a:t>
            </a:r>
            <a:endParaRPr b="1" sz="2400">
              <a:solidFill>
                <a:schemeClr val="dk1"/>
              </a:solidFill>
              <a:latin typeface="Calibri"/>
              <a:ea typeface="Calibri"/>
              <a:cs typeface="Calibri"/>
              <a:sym typeface="Calibri"/>
            </a:endParaRPr>
          </a:p>
        </p:txBody>
      </p:sp>
      <p:pic>
        <p:nvPicPr>
          <p:cNvPr id="157" name="Google Shape;157;p5"/>
          <p:cNvPicPr preferRelativeResize="0"/>
          <p:nvPr/>
        </p:nvPicPr>
        <p:blipFill rotWithShape="1">
          <a:blip r:embed="rId3">
            <a:alphaModFix/>
          </a:blip>
          <a:srcRect b="16827" l="1673" r="2922" t="18483"/>
          <a:stretch/>
        </p:blipFill>
        <p:spPr>
          <a:xfrm>
            <a:off x="5943600" y="71237"/>
            <a:ext cx="2895600" cy="351523"/>
          </a:xfrm>
          <a:prstGeom prst="rect">
            <a:avLst/>
          </a:prstGeom>
          <a:noFill/>
          <a:ln>
            <a:noFill/>
          </a:ln>
        </p:spPr>
      </p:pic>
      <p:sp>
        <p:nvSpPr>
          <p:cNvPr id="158" name="Google Shape;158;p5"/>
          <p:cNvSpPr/>
          <p:nvPr/>
        </p:nvSpPr>
        <p:spPr>
          <a:xfrm>
            <a:off x="228600" y="83473"/>
            <a:ext cx="5610600" cy="351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2060"/>
              </a:buClr>
              <a:buSzPts val="2200"/>
              <a:buFont typeface="Calibri"/>
              <a:buNone/>
            </a:pPr>
            <a:r>
              <a:rPr b="1" lang="en-US" sz="1900">
                <a:solidFill>
                  <a:srgbClr val="002060"/>
                </a:solidFill>
                <a:latin typeface="Calibri"/>
                <a:ea typeface="Calibri"/>
                <a:cs typeface="Calibri"/>
                <a:sym typeface="Calibri"/>
              </a:rPr>
              <a:t>Title: Motor Safety Interlock with Multi-Sensor Check</a:t>
            </a:r>
            <a:endParaRPr/>
          </a:p>
        </p:txBody>
      </p:sp>
      <p:sp>
        <p:nvSpPr>
          <p:cNvPr id="159" name="Google Shape;159;p5"/>
          <p:cNvSpPr txBox="1"/>
          <p:nvPr/>
        </p:nvSpPr>
        <p:spPr>
          <a:xfrm>
            <a:off x="226075" y="1039651"/>
            <a:ext cx="8613125" cy="38164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Peripherals chosen:</a:t>
            </a:r>
            <a:endParaRPr/>
          </a:p>
          <a:p>
            <a:pPr indent="0" lvl="0" marL="0" marR="0" rtl="0" algn="l">
              <a:spcBef>
                <a:spcPts val="120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120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p:txBody>
      </p:sp>
      <p:graphicFrame>
        <p:nvGraphicFramePr>
          <p:cNvPr id="160" name="Google Shape;160;p5"/>
          <p:cNvGraphicFramePr/>
          <p:nvPr/>
        </p:nvGraphicFramePr>
        <p:xfrm>
          <a:off x="628650" y="1663859"/>
          <a:ext cx="3000000" cy="3000000"/>
        </p:xfrm>
        <a:graphic>
          <a:graphicData uri="http://schemas.openxmlformats.org/drawingml/2006/table">
            <a:tbl>
              <a:tblPr>
                <a:noFill/>
                <a:tableStyleId>{A778600F-DE87-485F-BD25-3D1D466197A8}</a:tableStyleId>
              </a:tblPr>
              <a:tblGrid>
                <a:gridCol w="3943350"/>
                <a:gridCol w="3943350"/>
              </a:tblGrid>
              <a:tr h="171450">
                <a:tc>
                  <a:txBody>
                    <a:bodyPr/>
                    <a:lstStyle/>
                    <a:p>
                      <a:pPr indent="0" lvl="0" marL="0" marR="0" rtl="0" algn="l">
                        <a:spcBef>
                          <a:spcPts val="0"/>
                        </a:spcBef>
                        <a:spcAft>
                          <a:spcPts val="0"/>
                        </a:spcAft>
                        <a:buNone/>
                      </a:pPr>
                      <a:r>
                        <a:rPr lang="en-US" sz="1350"/>
                        <a:t>Peripheral</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spcBef>
                          <a:spcPts val="0"/>
                        </a:spcBef>
                        <a:spcAft>
                          <a:spcPts val="0"/>
                        </a:spcAft>
                        <a:buNone/>
                      </a:pPr>
                      <a:r>
                        <a:rPr lang="en-US" sz="1350"/>
                        <a:t>Purpose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171450">
                <a:tc>
                  <a:txBody>
                    <a:bodyPr/>
                    <a:lstStyle/>
                    <a:p>
                      <a:pPr indent="0" lvl="0" marL="0" marR="0" rtl="0" algn="l">
                        <a:spcBef>
                          <a:spcPts val="0"/>
                        </a:spcBef>
                        <a:spcAft>
                          <a:spcPts val="0"/>
                        </a:spcAft>
                        <a:buNone/>
                      </a:pPr>
                      <a:r>
                        <a:rPr lang="en-US" sz="1350"/>
                        <a:t>Temperature Sensor (LM35)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spcBef>
                          <a:spcPts val="0"/>
                        </a:spcBef>
                        <a:spcAft>
                          <a:spcPts val="0"/>
                        </a:spcAft>
                        <a:buNone/>
                      </a:pPr>
                      <a:r>
                        <a:rPr lang="en-US" sz="1350"/>
                        <a:t>To monitor temperature for overheating protection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171450">
                <a:tc>
                  <a:txBody>
                    <a:bodyPr/>
                    <a:lstStyle/>
                    <a:p>
                      <a:pPr indent="0" lvl="0" marL="0" marR="0" rtl="0" algn="l">
                        <a:spcBef>
                          <a:spcPts val="0"/>
                        </a:spcBef>
                        <a:spcAft>
                          <a:spcPts val="0"/>
                        </a:spcAft>
                        <a:buNone/>
                      </a:pPr>
                      <a:r>
                        <a:rPr lang="en-US" sz="1350"/>
                        <a:t>Gas Sensor (MQ-2)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spcBef>
                          <a:spcPts val="0"/>
                        </a:spcBef>
                        <a:spcAft>
                          <a:spcPts val="0"/>
                        </a:spcAft>
                        <a:buNone/>
                      </a:pPr>
                      <a:r>
                        <a:rPr lang="en-US" sz="1350"/>
                        <a:t>To detect gas leakage and ensure safety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171450">
                <a:tc>
                  <a:txBody>
                    <a:bodyPr/>
                    <a:lstStyle/>
                    <a:p>
                      <a:pPr indent="0" lvl="0" marL="0" marR="0" rtl="0" algn="l">
                        <a:spcBef>
                          <a:spcPts val="0"/>
                        </a:spcBef>
                        <a:spcAft>
                          <a:spcPts val="0"/>
                        </a:spcAft>
                        <a:buNone/>
                      </a:pPr>
                      <a:r>
                        <a:rPr lang="en-US" sz="1350"/>
                        <a:t>Ultrasonic Sensor (HC-SR04)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spcBef>
                          <a:spcPts val="0"/>
                        </a:spcBef>
                        <a:spcAft>
                          <a:spcPts val="0"/>
                        </a:spcAft>
                        <a:buNone/>
                      </a:pPr>
                      <a:r>
                        <a:rPr lang="en-US" sz="1350"/>
                        <a:t>To detect obstacles and measure distance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171450">
                <a:tc>
                  <a:txBody>
                    <a:bodyPr/>
                    <a:lstStyle/>
                    <a:p>
                      <a:pPr indent="0" lvl="0" marL="0" marR="0" rtl="0" algn="l">
                        <a:spcBef>
                          <a:spcPts val="0"/>
                        </a:spcBef>
                        <a:spcAft>
                          <a:spcPts val="0"/>
                        </a:spcAft>
                        <a:buNone/>
                      </a:pPr>
                      <a:r>
                        <a:rPr lang="en-US" sz="1350"/>
                        <a:t>DC / Stepper Motor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spcBef>
                          <a:spcPts val="0"/>
                        </a:spcBef>
                        <a:spcAft>
                          <a:spcPts val="0"/>
                        </a:spcAft>
                        <a:buNone/>
                      </a:pPr>
                      <a:r>
                        <a:rPr lang="en-US" sz="1350"/>
                        <a:t>To perform mechanical motion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171450">
                <a:tc>
                  <a:txBody>
                    <a:bodyPr/>
                    <a:lstStyle/>
                    <a:p>
                      <a:pPr indent="0" lvl="0" marL="0" marR="0" rtl="0" algn="l">
                        <a:spcBef>
                          <a:spcPts val="0"/>
                        </a:spcBef>
                        <a:spcAft>
                          <a:spcPts val="0"/>
                        </a:spcAft>
                        <a:buNone/>
                      </a:pPr>
                      <a:r>
                        <a:rPr lang="en-US" sz="1350"/>
                        <a:t>Motor Driver (L298)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spcBef>
                          <a:spcPts val="0"/>
                        </a:spcBef>
                        <a:spcAft>
                          <a:spcPts val="0"/>
                        </a:spcAft>
                        <a:buNone/>
                      </a:pPr>
                      <a:r>
                        <a:rPr lang="en-US" sz="1350"/>
                        <a:t>To drive motor with sufficient current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171450">
                <a:tc>
                  <a:txBody>
                    <a:bodyPr/>
                    <a:lstStyle/>
                    <a:p>
                      <a:pPr indent="0" lvl="0" marL="0" marR="0" rtl="0" algn="l">
                        <a:spcBef>
                          <a:spcPts val="0"/>
                        </a:spcBef>
                        <a:spcAft>
                          <a:spcPts val="0"/>
                        </a:spcAft>
                        <a:buNone/>
                      </a:pPr>
                      <a:r>
                        <a:rPr lang="en-US" sz="1350"/>
                        <a:t>LPC1768 Microcontroller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spcBef>
                          <a:spcPts val="0"/>
                        </a:spcBef>
                        <a:spcAft>
                          <a:spcPts val="0"/>
                        </a:spcAft>
                        <a:buNone/>
                      </a:pPr>
                      <a:r>
                        <a:rPr lang="en-US" sz="1350"/>
                        <a:t>To control system and execute RTOS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171450">
                <a:tc>
                  <a:txBody>
                    <a:bodyPr/>
                    <a:lstStyle/>
                    <a:p>
                      <a:pPr indent="0" lvl="0" marL="0" marR="0" rtl="0" algn="l">
                        <a:spcBef>
                          <a:spcPts val="0"/>
                        </a:spcBef>
                        <a:spcAft>
                          <a:spcPts val="0"/>
                        </a:spcAft>
                        <a:buNone/>
                      </a:pPr>
                      <a:r>
                        <a:rPr lang="en-US" sz="1350"/>
                        <a:t>UART Module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spcBef>
                          <a:spcPts val="0"/>
                        </a:spcBef>
                        <a:spcAft>
                          <a:spcPts val="0"/>
                        </a:spcAft>
                        <a:buNone/>
                      </a:pPr>
                      <a:r>
                        <a:rPr lang="en-US" sz="1350"/>
                        <a:t>To transmit event logs to PC</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r h="171450">
                <a:tc>
                  <a:txBody>
                    <a:bodyPr/>
                    <a:lstStyle/>
                    <a:p>
                      <a:pPr indent="0" lvl="0" marL="0" marR="0" rtl="0" algn="l">
                        <a:spcBef>
                          <a:spcPts val="0"/>
                        </a:spcBef>
                        <a:spcAft>
                          <a:spcPts val="0"/>
                        </a:spcAft>
                        <a:buNone/>
                      </a:pPr>
                      <a:r>
                        <a:rPr lang="en-US" sz="1350"/>
                        <a:t>Buzzer / LED</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c>
                  <a:txBody>
                    <a:bodyPr/>
                    <a:lstStyle/>
                    <a:p>
                      <a:pPr indent="0" lvl="0" marL="0" marR="0" rtl="0" algn="l">
                        <a:spcBef>
                          <a:spcPts val="0"/>
                        </a:spcBef>
                        <a:spcAft>
                          <a:spcPts val="0"/>
                        </a:spcAft>
                        <a:buNone/>
                      </a:pPr>
                      <a:r>
                        <a:rPr lang="en-US" sz="1350"/>
                        <a:t>To provide alert indication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no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cxnSp>
        <p:nvCxnSpPr>
          <p:cNvPr id="165" name="Google Shape;165;p6"/>
          <p:cNvCxnSpPr/>
          <p:nvPr/>
        </p:nvCxnSpPr>
        <p:spPr>
          <a:xfrm>
            <a:off x="304800" y="475598"/>
            <a:ext cx="8534400" cy="0"/>
          </a:xfrm>
          <a:prstGeom prst="straightConnector1">
            <a:avLst/>
          </a:prstGeom>
          <a:noFill/>
          <a:ln cap="flat" cmpd="thickThin" w="38100">
            <a:solidFill>
              <a:srgbClr val="0070C0"/>
            </a:solidFill>
            <a:prstDash val="solid"/>
            <a:miter lim="800000"/>
            <a:headEnd len="sm" w="sm" type="none"/>
            <a:tailEnd len="sm" w="sm" type="none"/>
          </a:ln>
        </p:spPr>
      </p:cxnSp>
      <p:sp>
        <p:nvSpPr>
          <p:cNvPr id="166" name="Google Shape;166;p6"/>
          <p:cNvSpPr/>
          <p:nvPr/>
        </p:nvSpPr>
        <p:spPr>
          <a:xfrm>
            <a:off x="0" y="4914900"/>
            <a:ext cx="9144000" cy="228600"/>
          </a:xfrm>
          <a:prstGeom prst="rect">
            <a:avLst/>
          </a:prstGeom>
          <a:solidFill>
            <a:srgbClr val="BBD6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6"/>
          <p:cNvSpPr txBox="1"/>
          <p:nvPr>
            <p:ph idx="10" type="dt"/>
          </p:nvPr>
        </p:nvSpPr>
        <p:spPr>
          <a:xfrm>
            <a:off x="152400" y="4892278"/>
            <a:ext cx="25146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rgbClr val="002060"/>
                </a:solidFill>
                <a:latin typeface="Times New Roman"/>
                <a:ea typeface="Times New Roman"/>
                <a:cs typeface="Times New Roman"/>
                <a:sym typeface="Times New Roman"/>
              </a:rPr>
              <a:t>12/01/2026</a:t>
            </a:r>
            <a:endParaRPr b="1" sz="1100">
              <a:solidFill>
                <a:srgbClr val="002060"/>
              </a:solidFill>
              <a:latin typeface="Times New Roman"/>
              <a:ea typeface="Times New Roman"/>
              <a:cs typeface="Times New Roman"/>
              <a:sym typeface="Times New Roman"/>
            </a:endParaRPr>
          </a:p>
        </p:txBody>
      </p:sp>
      <p:sp>
        <p:nvSpPr>
          <p:cNvPr id="168" name="Google Shape;168;p6"/>
          <p:cNvSpPr txBox="1"/>
          <p:nvPr>
            <p:ph idx="11" type="ftr"/>
          </p:nvPr>
        </p:nvSpPr>
        <p:spPr>
          <a:xfrm>
            <a:off x="3239069" y="4892278"/>
            <a:ext cx="3352801"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School of  ECE</a:t>
            </a:r>
            <a:endParaRPr/>
          </a:p>
        </p:txBody>
      </p:sp>
      <p:sp>
        <p:nvSpPr>
          <p:cNvPr id="169" name="Google Shape;169;p6"/>
          <p:cNvSpPr txBox="1"/>
          <p:nvPr>
            <p:ph idx="12" type="sldNum"/>
          </p:nvPr>
        </p:nvSpPr>
        <p:spPr>
          <a:xfrm>
            <a:off x="6629400" y="4873068"/>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Times New Roman"/>
                <a:ea typeface="Times New Roman"/>
                <a:cs typeface="Times New Roman"/>
                <a:sym typeface="Times New Roman"/>
              </a:rPr>
              <a:t>6</a:t>
            </a:r>
            <a:endParaRPr/>
          </a:p>
        </p:txBody>
      </p:sp>
      <p:sp>
        <p:nvSpPr>
          <p:cNvPr id="170" name="Google Shape;170;p6"/>
          <p:cNvSpPr/>
          <p:nvPr/>
        </p:nvSpPr>
        <p:spPr>
          <a:xfrm>
            <a:off x="228600" y="548301"/>
            <a:ext cx="2014975"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Block Diagram</a:t>
            </a:r>
            <a:endParaRPr/>
          </a:p>
        </p:txBody>
      </p:sp>
      <p:pic>
        <p:nvPicPr>
          <p:cNvPr id="171" name="Google Shape;171;p6"/>
          <p:cNvPicPr preferRelativeResize="0"/>
          <p:nvPr/>
        </p:nvPicPr>
        <p:blipFill rotWithShape="1">
          <a:blip r:embed="rId3">
            <a:alphaModFix/>
          </a:blip>
          <a:srcRect b="16827" l="1673" r="2922" t="18483"/>
          <a:stretch/>
        </p:blipFill>
        <p:spPr>
          <a:xfrm>
            <a:off x="5943600" y="71237"/>
            <a:ext cx="2895600" cy="351523"/>
          </a:xfrm>
          <a:prstGeom prst="rect">
            <a:avLst/>
          </a:prstGeom>
          <a:noFill/>
          <a:ln>
            <a:noFill/>
          </a:ln>
        </p:spPr>
      </p:pic>
      <p:sp>
        <p:nvSpPr>
          <p:cNvPr id="172" name="Google Shape;172;p6"/>
          <p:cNvSpPr/>
          <p:nvPr/>
        </p:nvSpPr>
        <p:spPr>
          <a:xfrm>
            <a:off x="228600" y="83475"/>
            <a:ext cx="5621400" cy="461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2060"/>
              </a:buClr>
              <a:buSzPts val="2200"/>
              <a:buFont typeface="Calibri"/>
              <a:buNone/>
            </a:pPr>
            <a:r>
              <a:rPr b="1" lang="en-US" sz="1900">
                <a:solidFill>
                  <a:srgbClr val="002060"/>
                </a:solidFill>
                <a:latin typeface="Calibri"/>
                <a:ea typeface="Calibri"/>
                <a:cs typeface="Calibri"/>
                <a:sym typeface="Calibri"/>
              </a:rPr>
              <a:t>Title: Motor Safety Interlock with Multi-Sensor Check</a:t>
            </a:r>
            <a:endParaRPr/>
          </a:p>
        </p:txBody>
      </p:sp>
      <p:pic>
        <p:nvPicPr>
          <p:cNvPr id="173" name="Google Shape;173;p6"/>
          <p:cNvPicPr preferRelativeResize="0"/>
          <p:nvPr/>
        </p:nvPicPr>
        <p:blipFill rotWithShape="1">
          <a:blip r:embed="rId4">
            <a:alphaModFix/>
          </a:blip>
          <a:srcRect b="0" l="0" r="0" t="0"/>
          <a:stretch/>
        </p:blipFill>
        <p:spPr>
          <a:xfrm>
            <a:off x="1801890" y="1022675"/>
            <a:ext cx="5540220" cy="31397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cxnSp>
        <p:nvCxnSpPr>
          <p:cNvPr id="178" name="Google Shape;178;p7"/>
          <p:cNvCxnSpPr/>
          <p:nvPr/>
        </p:nvCxnSpPr>
        <p:spPr>
          <a:xfrm>
            <a:off x="304800" y="475598"/>
            <a:ext cx="8534400" cy="0"/>
          </a:xfrm>
          <a:prstGeom prst="straightConnector1">
            <a:avLst/>
          </a:prstGeom>
          <a:noFill/>
          <a:ln cap="flat" cmpd="thickThin" w="38100">
            <a:solidFill>
              <a:srgbClr val="0070C0"/>
            </a:solidFill>
            <a:prstDash val="solid"/>
            <a:miter lim="800000"/>
            <a:headEnd len="sm" w="sm" type="none"/>
            <a:tailEnd len="sm" w="sm" type="none"/>
          </a:ln>
        </p:spPr>
      </p:cxnSp>
      <p:sp>
        <p:nvSpPr>
          <p:cNvPr id="179" name="Google Shape;179;p7"/>
          <p:cNvSpPr/>
          <p:nvPr/>
        </p:nvSpPr>
        <p:spPr>
          <a:xfrm>
            <a:off x="0" y="4914900"/>
            <a:ext cx="9144000" cy="228600"/>
          </a:xfrm>
          <a:prstGeom prst="rect">
            <a:avLst/>
          </a:prstGeom>
          <a:solidFill>
            <a:srgbClr val="BBD6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7"/>
          <p:cNvSpPr txBox="1"/>
          <p:nvPr>
            <p:ph idx="10" type="dt"/>
          </p:nvPr>
        </p:nvSpPr>
        <p:spPr>
          <a:xfrm>
            <a:off x="152400" y="4892278"/>
            <a:ext cx="25146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rgbClr val="002060"/>
                </a:solidFill>
                <a:latin typeface="Times New Roman"/>
                <a:ea typeface="Times New Roman"/>
                <a:cs typeface="Times New Roman"/>
                <a:sym typeface="Times New Roman"/>
              </a:rPr>
              <a:t>12/01/2026</a:t>
            </a:r>
            <a:endParaRPr b="1" sz="1100">
              <a:solidFill>
                <a:srgbClr val="002060"/>
              </a:solidFill>
              <a:latin typeface="Times New Roman"/>
              <a:ea typeface="Times New Roman"/>
              <a:cs typeface="Times New Roman"/>
              <a:sym typeface="Times New Roman"/>
            </a:endParaRPr>
          </a:p>
        </p:txBody>
      </p:sp>
      <p:sp>
        <p:nvSpPr>
          <p:cNvPr id="181" name="Google Shape;181;p7"/>
          <p:cNvSpPr txBox="1"/>
          <p:nvPr>
            <p:ph idx="11" type="ftr"/>
          </p:nvPr>
        </p:nvSpPr>
        <p:spPr>
          <a:xfrm>
            <a:off x="3239069" y="4892278"/>
            <a:ext cx="3352801"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School of  ECE</a:t>
            </a:r>
            <a:endParaRPr/>
          </a:p>
        </p:txBody>
      </p:sp>
      <p:sp>
        <p:nvSpPr>
          <p:cNvPr id="182" name="Google Shape;182;p7"/>
          <p:cNvSpPr txBox="1"/>
          <p:nvPr>
            <p:ph idx="12" type="sldNum"/>
          </p:nvPr>
        </p:nvSpPr>
        <p:spPr>
          <a:xfrm>
            <a:off x="6629400" y="4873068"/>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Times New Roman"/>
                <a:ea typeface="Times New Roman"/>
                <a:cs typeface="Times New Roman"/>
                <a:sym typeface="Times New Roman"/>
              </a:rPr>
              <a:t>7</a:t>
            </a:r>
            <a:endParaRPr/>
          </a:p>
        </p:txBody>
      </p:sp>
      <p:sp>
        <p:nvSpPr>
          <p:cNvPr id="183" name="Google Shape;183;p7"/>
          <p:cNvSpPr/>
          <p:nvPr/>
        </p:nvSpPr>
        <p:spPr>
          <a:xfrm>
            <a:off x="152400" y="585546"/>
            <a:ext cx="6946005" cy="4647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Specifications of All Peripherals Used &amp; Calculations</a:t>
            </a:r>
            <a:endParaRPr b="1" sz="2400">
              <a:solidFill>
                <a:schemeClr val="dk1"/>
              </a:solidFill>
              <a:latin typeface="Calibri"/>
              <a:ea typeface="Calibri"/>
              <a:cs typeface="Calibri"/>
              <a:sym typeface="Calibri"/>
            </a:endParaRPr>
          </a:p>
        </p:txBody>
      </p:sp>
      <p:pic>
        <p:nvPicPr>
          <p:cNvPr id="184" name="Google Shape;184;p7"/>
          <p:cNvPicPr preferRelativeResize="0"/>
          <p:nvPr/>
        </p:nvPicPr>
        <p:blipFill rotWithShape="1">
          <a:blip r:embed="rId3">
            <a:alphaModFix/>
          </a:blip>
          <a:srcRect b="16827" l="1673" r="2922" t="18483"/>
          <a:stretch/>
        </p:blipFill>
        <p:spPr>
          <a:xfrm>
            <a:off x="5943600" y="71237"/>
            <a:ext cx="2895600" cy="351523"/>
          </a:xfrm>
          <a:prstGeom prst="rect">
            <a:avLst/>
          </a:prstGeom>
          <a:noFill/>
          <a:ln>
            <a:noFill/>
          </a:ln>
        </p:spPr>
      </p:pic>
      <p:sp>
        <p:nvSpPr>
          <p:cNvPr id="185" name="Google Shape;185;p7"/>
          <p:cNvSpPr/>
          <p:nvPr/>
        </p:nvSpPr>
        <p:spPr>
          <a:xfrm>
            <a:off x="228600" y="83475"/>
            <a:ext cx="5715000" cy="464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2060"/>
              </a:buClr>
              <a:buSzPts val="2200"/>
              <a:buFont typeface="Calibri"/>
              <a:buNone/>
            </a:pPr>
            <a:r>
              <a:rPr b="1" lang="en-US" sz="1900">
                <a:solidFill>
                  <a:srgbClr val="002060"/>
                </a:solidFill>
                <a:latin typeface="Calibri"/>
                <a:ea typeface="Calibri"/>
                <a:cs typeface="Calibri"/>
                <a:sym typeface="Calibri"/>
              </a:rPr>
              <a:t>Title: Motor Safety Interlock with Multi-Sensor Check</a:t>
            </a:r>
            <a:endParaRPr/>
          </a:p>
        </p:txBody>
      </p:sp>
      <p:sp>
        <p:nvSpPr>
          <p:cNvPr id="186" name="Google Shape;186;p7"/>
          <p:cNvSpPr txBox="1"/>
          <p:nvPr/>
        </p:nvSpPr>
        <p:spPr>
          <a:xfrm>
            <a:off x="228600" y="1072911"/>
            <a:ext cx="6604000" cy="203132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Temperature Sensor: LM35 (10mV/°C)</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Gas Sensor: MQ-2 (Analog output)</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Ultrasonic Sensor: HC-SR04 (2cm – 400cm)</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Motor: 12V DC / Stepper Motor</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Motor Driver: L298</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Microcontroller: LPC1768 ARM Cortex-M3</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Communication: UART 9600 baud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cxnSp>
        <p:nvCxnSpPr>
          <p:cNvPr id="191" name="Google Shape;191;p8"/>
          <p:cNvCxnSpPr/>
          <p:nvPr/>
        </p:nvCxnSpPr>
        <p:spPr>
          <a:xfrm>
            <a:off x="304800" y="475598"/>
            <a:ext cx="8534400" cy="0"/>
          </a:xfrm>
          <a:prstGeom prst="straightConnector1">
            <a:avLst/>
          </a:prstGeom>
          <a:noFill/>
          <a:ln cap="flat" cmpd="thickThin" w="38100">
            <a:solidFill>
              <a:srgbClr val="0070C0"/>
            </a:solidFill>
            <a:prstDash val="solid"/>
            <a:miter lim="800000"/>
            <a:headEnd len="sm" w="sm" type="none"/>
            <a:tailEnd len="sm" w="sm" type="none"/>
          </a:ln>
        </p:spPr>
      </p:cxnSp>
      <p:sp>
        <p:nvSpPr>
          <p:cNvPr id="192" name="Google Shape;192;p8"/>
          <p:cNvSpPr/>
          <p:nvPr/>
        </p:nvSpPr>
        <p:spPr>
          <a:xfrm>
            <a:off x="0" y="4914900"/>
            <a:ext cx="9144000" cy="228600"/>
          </a:xfrm>
          <a:prstGeom prst="rect">
            <a:avLst/>
          </a:prstGeom>
          <a:solidFill>
            <a:srgbClr val="BBD6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8"/>
          <p:cNvSpPr txBox="1"/>
          <p:nvPr>
            <p:ph idx="10" type="dt"/>
          </p:nvPr>
        </p:nvSpPr>
        <p:spPr>
          <a:xfrm>
            <a:off x="152400" y="4892278"/>
            <a:ext cx="25146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rgbClr val="002060"/>
                </a:solidFill>
                <a:latin typeface="Times New Roman"/>
                <a:ea typeface="Times New Roman"/>
                <a:cs typeface="Times New Roman"/>
                <a:sym typeface="Times New Roman"/>
              </a:rPr>
              <a:t>12/01/2026</a:t>
            </a:r>
            <a:endParaRPr b="1" sz="1100">
              <a:solidFill>
                <a:srgbClr val="002060"/>
              </a:solidFill>
              <a:latin typeface="Times New Roman"/>
              <a:ea typeface="Times New Roman"/>
              <a:cs typeface="Times New Roman"/>
              <a:sym typeface="Times New Roman"/>
            </a:endParaRPr>
          </a:p>
        </p:txBody>
      </p:sp>
      <p:sp>
        <p:nvSpPr>
          <p:cNvPr id="194" name="Google Shape;194;p8"/>
          <p:cNvSpPr txBox="1"/>
          <p:nvPr>
            <p:ph idx="11" type="ftr"/>
          </p:nvPr>
        </p:nvSpPr>
        <p:spPr>
          <a:xfrm>
            <a:off x="3239069" y="4892278"/>
            <a:ext cx="3352801"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School of  ECE</a:t>
            </a:r>
            <a:endParaRPr/>
          </a:p>
        </p:txBody>
      </p:sp>
      <p:sp>
        <p:nvSpPr>
          <p:cNvPr id="195" name="Google Shape;195;p8"/>
          <p:cNvSpPr txBox="1"/>
          <p:nvPr>
            <p:ph idx="12" type="sldNum"/>
          </p:nvPr>
        </p:nvSpPr>
        <p:spPr>
          <a:xfrm>
            <a:off x="6629400" y="4873068"/>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Times New Roman"/>
                <a:ea typeface="Times New Roman"/>
                <a:cs typeface="Times New Roman"/>
                <a:sym typeface="Times New Roman"/>
              </a:rPr>
              <a:t>8</a:t>
            </a:r>
            <a:endParaRPr/>
          </a:p>
        </p:txBody>
      </p:sp>
      <p:sp>
        <p:nvSpPr>
          <p:cNvPr id="196" name="Google Shape;196;p8"/>
          <p:cNvSpPr/>
          <p:nvPr/>
        </p:nvSpPr>
        <p:spPr>
          <a:xfrm>
            <a:off x="152400" y="525681"/>
            <a:ext cx="2782428"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Interfacing Diagram</a:t>
            </a:r>
            <a:endParaRPr b="1" sz="2400">
              <a:solidFill>
                <a:schemeClr val="dk1"/>
              </a:solidFill>
              <a:latin typeface="Calibri"/>
              <a:ea typeface="Calibri"/>
              <a:cs typeface="Calibri"/>
              <a:sym typeface="Calibri"/>
            </a:endParaRPr>
          </a:p>
        </p:txBody>
      </p:sp>
      <p:pic>
        <p:nvPicPr>
          <p:cNvPr id="197" name="Google Shape;197;p8"/>
          <p:cNvPicPr preferRelativeResize="0"/>
          <p:nvPr/>
        </p:nvPicPr>
        <p:blipFill rotWithShape="1">
          <a:blip r:embed="rId3">
            <a:alphaModFix/>
          </a:blip>
          <a:srcRect b="16827" l="1673" r="2922" t="18483"/>
          <a:stretch/>
        </p:blipFill>
        <p:spPr>
          <a:xfrm>
            <a:off x="5943600" y="71237"/>
            <a:ext cx="2895600" cy="351523"/>
          </a:xfrm>
          <a:prstGeom prst="rect">
            <a:avLst/>
          </a:prstGeom>
          <a:noFill/>
          <a:ln>
            <a:noFill/>
          </a:ln>
        </p:spPr>
      </p:pic>
      <p:sp>
        <p:nvSpPr>
          <p:cNvPr id="198" name="Google Shape;198;p8"/>
          <p:cNvSpPr/>
          <p:nvPr/>
        </p:nvSpPr>
        <p:spPr>
          <a:xfrm>
            <a:off x="228600" y="83475"/>
            <a:ext cx="5715000" cy="461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2060"/>
              </a:buClr>
              <a:buSzPts val="2200"/>
              <a:buFont typeface="Calibri"/>
              <a:buNone/>
            </a:pPr>
            <a:r>
              <a:rPr b="1" lang="en-US" sz="1900">
                <a:solidFill>
                  <a:srgbClr val="002060"/>
                </a:solidFill>
                <a:latin typeface="Calibri"/>
                <a:ea typeface="Calibri"/>
                <a:cs typeface="Calibri"/>
                <a:sym typeface="Calibri"/>
              </a:rPr>
              <a:t>Title: Motor Safety Interlock with Multi-Sensor Check</a:t>
            </a:r>
            <a:endParaRPr/>
          </a:p>
        </p:txBody>
      </p:sp>
      <p:pic>
        <p:nvPicPr>
          <p:cNvPr id="199" name="Google Shape;199;p8"/>
          <p:cNvPicPr preferRelativeResize="0"/>
          <p:nvPr/>
        </p:nvPicPr>
        <p:blipFill rotWithShape="1">
          <a:blip r:embed="rId4">
            <a:alphaModFix/>
          </a:blip>
          <a:srcRect b="0" l="0" r="0" t="0"/>
          <a:stretch/>
        </p:blipFill>
        <p:spPr>
          <a:xfrm>
            <a:off x="1892969" y="967805"/>
            <a:ext cx="4681621" cy="39018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cxnSp>
        <p:nvCxnSpPr>
          <p:cNvPr id="204" name="Google Shape;204;p9"/>
          <p:cNvCxnSpPr/>
          <p:nvPr/>
        </p:nvCxnSpPr>
        <p:spPr>
          <a:xfrm>
            <a:off x="304800" y="475598"/>
            <a:ext cx="8534400" cy="0"/>
          </a:xfrm>
          <a:prstGeom prst="straightConnector1">
            <a:avLst/>
          </a:prstGeom>
          <a:noFill/>
          <a:ln cap="flat" cmpd="thickThin" w="38100">
            <a:solidFill>
              <a:srgbClr val="0070C0"/>
            </a:solidFill>
            <a:prstDash val="solid"/>
            <a:miter lim="800000"/>
            <a:headEnd len="sm" w="sm" type="none"/>
            <a:tailEnd len="sm" w="sm" type="none"/>
          </a:ln>
        </p:spPr>
      </p:cxnSp>
      <p:sp>
        <p:nvSpPr>
          <p:cNvPr id="205" name="Google Shape;205;p9"/>
          <p:cNvSpPr/>
          <p:nvPr/>
        </p:nvSpPr>
        <p:spPr>
          <a:xfrm>
            <a:off x="0" y="4914900"/>
            <a:ext cx="9144000" cy="228600"/>
          </a:xfrm>
          <a:prstGeom prst="rect">
            <a:avLst/>
          </a:prstGeom>
          <a:solidFill>
            <a:srgbClr val="BBD6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9"/>
          <p:cNvSpPr txBox="1"/>
          <p:nvPr>
            <p:ph idx="10" type="dt"/>
          </p:nvPr>
        </p:nvSpPr>
        <p:spPr>
          <a:xfrm>
            <a:off x="152400" y="4892278"/>
            <a:ext cx="25146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rgbClr val="002060"/>
                </a:solidFill>
                <a:latin typeface="Times New Roman"/>
                <a:ea typeface="Times New Roman"/>
                <a:cs typeface="Times New Roman"/>
                <a:sym typeface="Times New Roman"/>
              </a:rPr>
              <a:t>12/01/2026</a:t>
            </a:r>
            <a:endParaRPr b="1" sz="1100">
              <a:solidFill>
                <a:srgbClr val="002060"/>
              </a:solidFill>
              <a:latin typeface="Times New Roman"/>
              <a:ea typeface="Times New Roman"/>
              <a:cs typeface="Times New Roman"/>
              <a:sym typeface="Times New Roman"/>
            </a:endParaRPr>
          </a:p>
        </p:txBody>
      </p:sp>
      <p:sp>
        <p:nvSpPr>
          <p:cNvPr id="207" name="Google Shape;207;p9"/>
          <p:cNvSpPr txBox="1"/>
          <p:nvPr>
            <p:ph idx="11" type="ftr"/>
          </p:nvPr>
        </p:nvSpPr>
        <p:spPr>
          <a:xfrm>
            <a:off x="3239069" y="4892278"/>
            <a:ext cx="3352801"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School of  ECE</a:t>
            </a:r>
            <a:endParaRPr/>
          </a:p>
        </p:txBody>
      </p:sp>
      <p:sp>
        <p:nvSpPr>
          <p:cNvPr id="208" name="Google Shape;208;p9"/>
          <p:cNvSpPr txBox="1"/>
          <p:nvPr>
            <p:ph idx="12" type="sldNum"/>
          </p:nvPr>
        </p:nvSpPr>
        <p:spPr>
          <a:xfrm>
            <a:off x="6629400" y="4873068"/>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Times New Roman"/>
                <a:ea typeface="Times New Roman"/>
                <a:cs typeface="Times New Roman"/>
                <a:sym typeface="Times New Roman"/>
              </a:rPr>
              <a:t>9</a:t>
            </a:r>
            <a:endParaRPr/>
          </a:p>
        </p:txBody>
      </p:sp>
      <p:sp>
        <p:nvSpPr>
          <p:cNvPr id="209" name="Google Shape;209;p9"/>
          <p:cNvSpPr/>
          <p:nvPr/>
        </p:nvSpPr>
        <p:spPr>
          <a:xfrm>
            <a:off x="228600" y="528437"/>
            <a:ext cx="110350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Results</a:t>
            </a:r>
            <a:endParaRPr b="1" sz="2400">
              <a:solidFill>
                <a:schemeClr val="dk1"/>
              </a:solidFill>
              <a:latin typeface="Calibri"/>
              <a:ea typeface="Calibri"/>
              <a:cs typeface="Calibri"/>
              <a:sym typeface="Calibri"/>
            </a:endParaRPr>
          </a:p>
        </p:txBody>
      </p:sp>
      <p:pic>
        <p:nvPicPr>
          <p:cNvPr id="210" name="Google Shape;210;p9"/>
          <p:cNvPicPr preferRelativeResize="0"/>
          <p:nvPr/>
        </p:nvPicPr>
        <p:blipFill rotWithShape="1">
          <a:blip r:embed="rId3">
            <a:alphaModFix/>
          </a:blip>
          <a:srcRect b="16827" l="1673" r="2922" t="18483"/>
          <a:stretch/>
        </p:blipFill>
        <p:spPr>
          <a:xfrm>
            <a:off x="5943600" y="71237"/>
            <a:ext cx="2895600" cy="351523"/>
          </a:xfrm>
          <a:prstGeom prst="rect">
            <a:avLst/>
          </a:prstGeom>
          <a:noFill/>
          <a:ln>
            <a:noFill/>
          </a:ln>
        </p:spPr>
      </p:pic>
      <p:sp>
        <p:nvSpPr>
          <p:cNvPr id="211" name="Google Shape;211;p9"/>
          <p:cNvSpPr/>
          <p:nvPr/>
        </p:nvSpPr>
        <p:spPr>
          <a:xfrm>
            <a:off x="228600" y="83475"/>
            <a:ext cx="5715000" cy="461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2060"/>
              </a:buClr>
              <a:buSzPts val="2200"/>
              <a:buFont typeface="Calibri"/>
              <a:buNone/>
            </a:pPr>
            <a:r>
              <a:rPr b="1" lang="en-US" sz="1900">
                <a:solidFill>
                  <a:srgbClr val="002060"/>
                </a:solidFill>
                <a:latin typeface="Calibri"/>
                <a:ea typeface="Calibri"/>
                <a:cs typeface="Calibri"/>
                <a:sym typeface="Calibri"/>
              </a:rPr>
              <a:t>Title: Motor Safety Interlock with Multi-Sensor Check</a:t>
            </a:r>
            <a:endParaRPr/>
          </a:p>
        </p:txBody>
      </p:sp>
      <p:pic>
        <p:nvPicPr>
          <p:cNvPr id="212" name="Google Shape;212;p9"/>
          <p:cNvPicPr preferRelativeResize="0"/>
          <p:nvPr/>
        </p:nvPicPr>
        <p:blipFill rotWithShape="1">
          <a:blip r:embed="rId4">
            <a:alphaModFix/>
          </a:blip>
          <a:srcRect b="0" l="0" r="0" t="0"/>
          <a:stretch/>
        </p:blipFill>
        <p:spPr>
          <a:xfrm>
            <a:off x="811177" y="1063901"/>
            <a:ext cx="6668615" cy="37624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cxnSp>
        <p:nvCxnSpPr>
          <p:cNvPr id="217" name="Google Shape;217;p10"/>
          <p:cNvCxnSpPr/>
          <p:nvPr/>
        </p:nvCxnSpPr>
        <p:spPr>
          <a:xfrm>
            <a:off x="304800" y="475598"/>
            <a:ext cx="8534400" cy="0"/>
          </a:xfrm>
          <a:prstGeom prst="straightConnector1">
            <a:avLst/>
          </a:prstGeom>
          <a:noFill/>
          <a:ln cap="flat" cmpd="thickThin" w="38100">
            <a:solidFill>
              <a:srgbClr val="0070C0"/>
            </a:solidFill>
            <a:prstDash val="solid"/>
            <a:miter lim="800000"/>
            <a:headEnd len="sm" w="sm" type="none"/>
            <a:tailEnd len="sm" w="sm" type="none"/>
          </a:ln>
        </p:spPr>
      </p:cxnSp>
      <p:sp>
        <p:nvSpPr>
          <p:cNvPr id="218" name="Google Shape;218;p10"/>
          <p:cNvSpPr/>
          <p:nvPr/>
        </p:nvSpPr>
        <p:spPr>
          <a:xfrm>
            <a:off x="0" y="4914900"/>
            <a:ext cx="9144000" cy="228600"/>
          </a:xfrm>
          <a:prstGeom prst="rect">
            <a:avLst/>
          </a:prstGeom>
          <a:solidFill>
            <a:srgbClr val="BBD6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10"/>
          <p:cNvSpPr txBox="1"/>
          <p:nvPr>
            <p:ph idx="10" type="dt"/>
          </p:nvPr>
        </p:nvSpPr>
        <p:spPr>
          <a:xfrm>
            <a:off x="152400" y="4892278"/>
            <a:ext cx="25146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rgbClr val="002060"/>
                </a:solidFill>
                <a:latin typeface="Times New Roman"/>
                <a:ea typeface="Times New Roman"/>
                <a:cs typeface="Times New Roman"/>
                <a:sym typeface="Times New Roman"/>
              </a:rPr>
              <a:t>12/01/2026</a:t>
            </a:r>
            <a:endParaRPr b="1" sz="1100">
              <a:solidFill>
                <a:srgbClr val="002060"/>
              </a:solidFill>
              <a:latin typeface="Times New Roman"/>
              <a:ea typeface="Times New Roman"/>
              <a:cs typeface="Times New Roman"/>
              <a:sym typeface="Times New Roman"/>
            </a:endParaRPr>
          </a:p>
        </p:txBody>
      </p:sp>
      <p:sp>
        <p:nvSpPr>
          <p:cNvPr id="220" name="Google Shape;220;p10"/>
          <p:cNvSpPr txBox="1"/>
          <p:nvPr>
            <p:ph idx="11" type="ftr"/>
          </p:nvPr>
        </p:nvSpPr>
        <p:spPr>
          <a:xfrm>
            <a:off x="3239069" y="4892278"/>
            <a:ext cx="3352801"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School of  ECE</a:t>
            </a:r>
            <a:endParaRPr/>
          </a:p>
        </p:txBody>
      </p:sp>
      <p:sp>
        <p:nvSpPr>
          <p:cNvPr id="221" name="Google Shape;221;p10"/>
          <p:cNvSpPr txBox="1"/>
          <p:nvPr>
            <p:ph idx="12" type="sldNum"/>
          </p:nvPr>
        </p:nvSpPr>
        <p:spPr>
          <a:xfrm>
            <a:off x="6629400" y="4873068"/>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Times New Roman"/>
                <a:ea typeface="Times New Roman"/>
                <a:cs typeface="Times New Roman"/>
                <a:sym typeface="Times New Roman"/>
              </a:rPr>
              <a:t>10</a:t>
            </a:r>
            <a:endParaRPr/>
          </a:p>
        </p:txBody>
      </p:sp>
      <p:sp>
        <p:nvSpPr>
          <p:cNvPr id="222" name="Google Shape;222;p10"/>
          <p:cNvSpPr/>
          <p:nvPr/>
        </p:nvSpPr>
        <p:spPr>
          <a:xfrm>
            <a:off x="228600" y="528437"/>
            <a:ext cx="110350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Results</a:t>
            </a:r>
            <a:endParaRPr b="1" sz="2400">
              <a:solidFill>
                <a:schemeClr val="dk1"/>
              </a:solidFill>
              <a:latin typeface="Calibri"/>
              <a:ea typeface="Calibri"/>
              <a:cs typeface="Calibri"/>
              <a:sym typeface="Calibri"/>
            </a:endParaRPr>
          </a:p>
        </p:txBody>
      </p:sp>
      <p:pic>
        <p:nvPicPr>
          <p:cNvPr id="223" name="Google Shape;223;p10"/>
          <p:cNvPicPr preferRelativeResize="0"/>
          <p:nvPr/>
        </p:nvPicPr>
        <p:blipFill rotWithShape="1">
          <a:blip r:embed="rId3">
            <a:alphaModFix/>
          </a:blip>
          <a:srcRect b="16827" l="1673" r="2922" t="18483"/>
          <a:stretch/>
        </p:blipFill>
        <p:spPr>
          <a:xfrm>
            <a:off x="5943600" y="71237"/>
            <a:ext cx="2895600" cy="351523"/>
          </a:xfrm>
          <a:prstGeom prst="rect">
            <a:avLst/>
          </a:prstGeom>
          <a:noFill/>
          <a:ln>
            <a:noFill/>
          </a:ln>
        </p:spPr>
      </p:pic>
      <p:sp>
        <p:nvSpPr>
          <p:cNvPr id="224" name="Google Shape;224;p10"/>
          <p:cNvSpPr/>
          <p:nvPr/>
        </p:nvSpPr>
        <p:spPr>
          <a:xfrm>
            <a:off x="228600" y="83475"/>
            <a:ext cx="5601000" cy="351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2060"/>
              </a:buClr>
              <a:buSzPts val="2200"/>
              <a:buFont typeface="Calibri"/>
              <a:buNone/>
            </a:pPr>
            <a:r>
              <a:rPr b="1" lang="en-US" sz="1900">
                <a:solidFill>
                  <a:srgbClr val="002060"/>
                </a:solidFill>
                <a:latin typeface="Calibri"/>
                <a:ea typeface="Calibri"/>
                <a:cs typeface="Calibri"/>
                <a:sym typeface="Calibri"/>
              </a:rPr>
              <a:t>Title: Motor Safety Interlock with Multi-Sensor Check</a:t>
            </a:r>
            <a:endParaRPr/>
          </a:p>
        </p:txBody>
      </p:sp>
      <p:pic>
        <p:nvPicPr>
          <p:cNvPr id="225" name="Google Shape;225;p10"/>
          <p:cNvPicPr preferRelativeResize="0"/>
          <p:nvPr/>
        </p:nvPicPr>
        <p:blipFill rotWithShape="1">
          <a:blip r:embed="rId4">
            <a:alphaModFix/>
          </a:blip>
          <a:srcRect b="0" l="0" r="0" t="0"/>
          <a:stretch/>
        </p:blipFill>
        <p:spPr>
          <a:xfrm>
            <a:off x="3136583" y="759269"/>
            <a:ext cx="2277419" cy="402335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0"/>
                                        <p:tgtEl>
                                          <p:spTgt spid="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cxnSp>
        <p:nvCxnSpPr>
          <p:cNvPr id="230" name="Google Shape;230;p11"/>
          <p:cNvCxnSpPr/>
          <p:nvPr/>
        </p:nvCxnSpPr>
        <p:spPr>
          <a:xfrm>
            <a:off x="304800" y="475598"/>
            <a:ext cx="8534400" cy="0"/>
          </a:xfrm>
          <a:prstGeom prst="straightConnector1">
            <a:avLst/>
          </a:prstGeom>
          <a:noFill/>
          <a:ln cap="flat" cmpd="thickThin" w="38100">
            <a:solidFill>
              <a:srgbClr val="0070C0"/>
            </a:solidFill>
            <a:prstDash val="solid"/>
            <a:miter lim="800000"/>
            <a:headEnd len="sm" w="sm" type="none"/>
            <a:tailEnd len="sm" w="sm" type="none"/>
          </a:ln>
        </p:spPr>
      </p:cxnSp>
      <p:sp>
        <p:nvSpPr>
          <p:cNvPr id="231" name="Google Shape;231;p11"/>
          <p:cNvSpPr/>
          <p:nvPr/>
        </p:nvSpPr>
        <p:spPr>
          <a:xfrm>
            <a:off x="0" y="4914900"/>
            <a:ext cx="9144000" cy="228600"/>
          </a:xfrm>
          <a:prstGeom prst="rect">
            <a:avLst/>
          </a:prstGeom>
          <a:solidFill>
            <a:srgbClr val="BBD6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11"/>
          <p:cNvSpPr txBox="1"/>
          <p:nvPr>
            <p:ph idx="10" type="dt"/>
          </p:nvPr>
        </p:nvSpPr>
        <p:spPr>
          <a:xfrm>
            <a:off x="152400" y="4892278"/>
            <a:ext cx="25146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rgbClr val="002060"/>
                </a:solidFill>
                <a:latin typeface="Times New Roman"/>
                <a:ea typeface="Times New Roman"/>
                <a:cs typeface="Times New Roman"/>
                <a:sym typeface="Times New Roman"/>
              </a:rPr>
              <a:t>12/01/2026</a:t>
            </a:r>
            <a:endParaRPr b="1" sz="1100">
              <a:solidFill>
                <a:srgbClr val="002060"/>
              </a:solidFill>
              <a:latin typeface="Times New Roman"/>
              <a:ea typeface="Times New Roman"/>
              <a:cs typeface="Times New Roman"/>
              <a:sym typeface="Times New Roman"/>
            </a:endParaRPr>
          </a:p>
        </p:txBody>
      </p:sp>
      <p:sp>
        <p:nvSpPr>
          <p:cNvPr id="233" name="Google Shape;233;p11"/>
          <p:cNvSpPr txBox="1"/>
          <p:nvPr>
            <p:ph idx="11" type="ftr"/>
          </p:nvPr>
        </p:nvSpPr>
        <p:spPr>
          <a:xfrm>
            <a:off x="3239069" y="4892278"/>
            <a:ext cx="3352801"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School of  ECE</a:t>
            </a:r>
            <a:endParaRPr/>
          </a:p>
        </p:txBody>
      </p:sp>
      <p:sp>
        <p:nvSpPr>
          <p:cNvPr id="234" name="Google Shape;234;p11"/>
          <p:cNvSpPr txBox="1"/>
          <p:nvPr>
            <p:ph idx="12" type="sldNum"/>
          </p:nvPr>
        </p:nvSpPr>
        <p:spPr>
          <a:xfrm>
            <a:off x="6629400" y="4873068"/>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Times New Roman"/>
                <a:ea typeface="Times New Roman"/>
                <a:cs typeface="Times New Roman"/>
                <a:sym typeface="Times New Roman"/>
              </a:rPr>
              <a:t>11</a:t>
            </a:r>
            <a:endParaRPr/>
          </a:p>
        </p:txBody>
      </p:sp>
      <p:sp>
        <p:nvSpPr>
          <p:cNvPr id="235" name="Google Shape;235;p11"/>
          <p:cNvSpPr/>
          <p:nvPr/>
        </p:nvSpPr>
        <p:spPr>
          <a:xfrm>
            <a:off x="283832" y="637694"/>
            <a:ext cx="833883"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Code</a:t>
            </a:r>
            <a:endParaRPr/>
          </a:p>
        </p:txBody>
      </p:sp>
      <p:pic>
        <p:nvPicPr>
          <p:cNvPr id="236" name="Google Shape;236;p11"/>
          <p:cNvPicPr preferRelativeResize="0"/>
          <p:nvPr/>
        </p:nvPicPr>
        <p:blipFill rotWithShape="1">
          <a:blip r:embed="rId3">
            <a:alphaModFix/>
          </a:blip>
          <a:srcRect b="16827" l="1673" r="2922" t="18483"/>
          <a:stretch/>
        </p:blipFill>
        <p:spPr>
          <a:xfrm>
            <a:off x="5943600" y="71237"/>
            <a:ext cx="2895600" cy="351523"/>
          </a:xfrm>
          <a:prstGeom prst="rect">
            <a:avLst/>
          </a:prstGeom>
          <a:noFill/>
          <a:ln>
            <a:noFill/>
          </a:ln>
        </p:spPr>
      </p:pic>
      <p:sp>
        <p:nvSpPr>
          <p:cNvPr id="237" name="Google Shape;237;p11"/>
          <p:cNvSpPr/>
          <p:nvPr/>
        </p:nvSpPr>
        <p:spPr>
          <a:xfrm>
            <a:off x="228600" y="83476"/>
            <a:ext cx="5635500" cy="461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2060"/>
              </a:buClr>
              <a:buSzPts val="2200"/>
              <a:buFont typeface="Calibri"/>
              <a:buNone/>
            </a:pPr>
            <a:r>
              <a:rPr b="1" lang="en-US" sz="1900">
                <a:solidFill>
                  <a:srgbClr val="002060"/>
                </a:solidFill>
                <a:latin typeface="Calibri"/>
                <a:ea typeface="Calibri"/>
                <a:cs typeface="Calibri"/>
                <a:sym typeface="Calibri"/>
              </a:rPr>
              <a:t>Title: Motor Safety Interlock with Multi-Sensor Check</a:t>
            </a:r>
            <a:endParaRPr/>
          </a:p>
        </p:txBody>
      </p:sp>
      <p:pic>
        <p:nvPicPr>
          <p:cNvPr id="238" name="Google Shape;238;p11"/>
          <p:cNvPicPr preferRelativeResize="0"/>
          <p:nvPr/>
        </p:nvPicPr>
        <p:blipFill rotWithShape="1">
          <a:blip r:embed="rId4">
            <a:alphaModFix/>
          </a:blip>
          <a:srcRect b="0" l="0" r="0" t="0"/>
          <a:stretch/>
        </p:blipFill>
        <p:spPr>
          <a:xfrm>
            <a:off x="1117715" y="684185"/>
            <a:ext cx="7883236" cy="417318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cxnSp>
        <p:nvCxnSpPr>
          <p:cNvPr id="243" name="Google Shape;243;p12"/>
          <p:cNvCxnSpPr/>
          <p:nvPr/>
        </p:nvCxnSpPr>
        <p:spPr>
          <a:xfrm>
            <a:off x="304800" y="475598"/>
            <a:ext cx="8534400" cy="0"/>
          </a:xfrm>
          <a:prstGeom prst="straightConnector1">
            <a:avLst/>
          </a:prstGeom>
          <a:noFill/>
          <a:ln cap="flat" cmpd="thickThin" w="38100">
            <a:solidFill>
              <a:srgbClr val="0070C0"/>
            </a:solidFill>
            <a:prstDash val="solid"/>
            <a:miter lim="800000"/>
            <a:headEnd len="sm" w="sm" type="none"/>
            <a:tailEnd len="sm" w="sm" type="none"/>
          </a:ln>
        </p:spPr>
      </p:cxnSp>
      <p:sp>
        <p:nvSpPr>
          <p:cNvPr id="244" name="Google Shape;244;p12"/>
          <p:cNvSpPr/>
          <p:nvPr/>
        </p:nvSpPr>
        <p:spPr>
          <a:xfrm>
            <a:off x="0" y="4914900"/>
            <a:ext cx="9144000" cy="228600"/>
          </a:xfrm>
          <a:prstGeom prst="rect">
            <a:avLst/>
          </a:prstGeom>
          <a:solidFill>
            <a:srgbClr val="BBD6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12"/>
          <p:cNvSpPr txBox="1"/>
          <p:nvPr>
            <p:ph idx="10" type="dt"/>
          </p:nvPr>
        </p:nvSpPr>
        <p:spPr>
          <a:xfrm>
            <a:off x="152400" y="4892278"/>
            <a:ext cx="25146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rgbClr val="002060"/>
                </a:solidFill>
                <a:latin typeface="Times New Roman"/>
                <a:ea typeface="Times New Roman"/>
                <a:cs typeface="Times New Roman"/>
                <a:sym typeface="Times New Roman"/>
              </a:rPr>
              <a:t>12/01/2026</a:t>
            </a:r>
            <a:endParaRPr b="1" sz="1100">
              <a:solidFill>
                <a:srgbClr val="002060"/>
              </a:solidFill>
              <a:latin typeface="Times New Roman"/>
              <a:ea typeface="Times New Roman"/>
              <a:cs typeface="Times New Roman"/>
              <a:sym typeface="Times New Roman"/>
            </a:endParaRPr>
          </a:p>
        </p:txBody>
      </p:sp>
      <p:sp>
        <p:nvSpPr>
          <p:cNvPr id="246" name="Google Shape;246;p12"/>
          <p:cNvSpPr txBox="1"/>
          <p:nvPr>
            <p:ph idx="11" type="ftr"/>
          </p:nvPr>
        </p:nvSpPr>
        <p:spPr>
          <a:xfrm>
            <a:off x="3239069" y="4892278"/>
            <a:ext cx="3352801"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School of  ECE</a:t>
            </a:r>
            <a:endParaRPr/>
          </a:p>
        </p:txBody>
      </p:sp>
      <p:sp>
        <p:nvSpPr>
          <p:cNvPr id="247" name="Google Shape;247;p12"/>
          <p:cNvSpPr txBox="1"/>
          <p:nvPr>
            <p:ph idx="12" type="sldNum"/>
          </p:nvPr>
        </p:nvSpPr>
        <p:spPr>
          <a:xfrm>
            <a:off x="6629400" y="4873068"/>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Times New Roman"/>
                <a:ea typeface="Times New Roman"/>
                <a:cs typeface="Times New Roman"/>
                <a:sym typeface="Times New Roman"/>
              </a:rPr>
              <a:t>13</a:t>
            </a:r>
            <a:endParaRPr/>
          </a:p>
        </p:txBody>
      </p:sp>
      <p:sp>
        <p:nvSpPr>
          <p:cNvPr id="248" name="Google Shape;248;p12"/>
          <p:cNvSpPr/>
          <p:nvPr/>
        </p:nvSpPr>
        <p:spPr>
          <a:xfrm>
            <a:off x="283832" y="637694"/>
            <a:ext cx="833883"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Code</a:t>
            </a:r>
            <a:endParaRPr/>
          </a:p>
        </p:txBody>
      </p:sp>
      <p:pic>
        <p:nvPicPr>
          <p:cNvPr id="249" name="Google Shape;249;p12"/>
          <p:cNvPicPr preferRelativeResize="0"/>
          <p:nvPr/>
        </p:nvPicPr>
        <p:blipFill rotWithShape="1">
          <a:blip r:embed="rId3">
            <a:alphaModFix/>
          </a:blip>
          <a:srcRect b="16827" l="1673" r="2922" t="18483"/>
          <a:stretch/>
        </p:blipFill>
        <p:spPr>
          <a:xfrm>
            <a:off x="5943600" y="71237"/>
            <a:ext cx="2895600" cy="351523"/>
          </a:xfrm>
          <a:prstGeom prst="rect">
            <a:avLst/>
          </a:prstGeom>
          <a:noFill/>
          <a:ln>
            <a:noFill/>
          </a:ln>
        </p:spPr>
      </p:pic>
      <p:sp>
        <p:nvSpPr>
          <p:cNvPr id="250" name="Google Shape;250;p12"/>
          <p:cNvSpPr/>
          <p:nvPr/>
        </p:nvSpPr>
        <p:spPr>
          <a:xfrm>
            <a:off x="228600" y="83475"/>
            <a:ext cx="5715000" cy="5541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2060"/>
              </a:buClr>
              <a:buSzPts val="2200"/>
              <a:buFont typeface="Calibri"/>
              <a:buNone/>
            </a:pPr>
            <a:r>
              <a:rPr b="1" lang="en-US" sz="1900">
                <a:solidFill>
                  <a:srgbClr val="002060"/>
                </a:solidFill>
                <a:latin typeface="Calibri"/>
                <a:ea typeface="Calibri"/>
                <a:cs typeface="Calibri"/>
                <a:sym typeface="Calibri"/>
              </a:rPr>
              <a:t>Title: Motor Safety Interlock with Multi-Sensor Check</a:t>
            </a:r>
            <a:endParaRPr/>
          </a:p>
        </p:txBody>
      </p:sp>
      <p:pic>
        <p:nvPicPr>
          <p:cNvPr id="251" name="Google Shape;251;p12"/>
          <p:cNvPicPr preferRelativeResize="0"/>
          <p:nvPr/>
        </p:nvPicPr>
        <p:blipFill rotWithShape="1">
          <a:blip r:embed="rId4">
            <a:alphaModFix/>
          </a:blip>
          <a:srcRect b="0" l="0" r="0" t="0"/>
          <a:stretch/>
        </p:blipFill>
        <p:spPr>
          <a:xfrm>
            <a:off x="1038620" y="600740"/>
            <a:ext cx="8026285" cy="424389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cxnSp>
        <p:nvCxnSpPr>
          <p:cNvPr id="256" name="Google Shape;256;p13"/>
          <p:cNvCxnSpPr/>
          <p:nvPr/>
        </p:nvCxnSpPr>
        <p:spPr>
          <a:xfrm>
            <a:off x="304800" y="475598"/>
            <a:ext cx="8534400" cy="0"/>
          </a:xfrm>
          <a:prstGeom prst="straightConnector1">
            <a:avLst/>
          </a:prstGeom>
          <a:noFill/>
          <a:ln cap="flat" cmpd="thickThin" w="38100">
            <a:solidFill>
              <a:srgbClr val="0070C0"/>
            </a:solidFill>
            <a:prstDash val="solid"/>
            <a:miter lim="800000"/>
            <a:headEnd len="sm" w="sm" type="none"/>
            <a:tailEnd len="sm" w="sm" type="none"/>
          </a:ln>
        </p:spPr>
      </p:cxnSp>
      <p:sp>
        <p:nvSpPr>
          <p:cNvPr id="257" name="Google Shape;257;p13"/>
          <p:cNvSpPr/>
          <p:nvPr/>
        </p:nvSpPr>
        <p:spPr>
          <a:xfrm>
            <a:off x="0" y="4914900"/>
            <a:ext cx="9144000" cy="228600"/>
          </a:xfrm>
          <a:prstGeom prst="rect">
            <a:avLst/>
          </a:prstGeom>
          <a:solidFill>
            <a:srgbClr val="BBD6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13"/>
          <p:cNvSpPr txBox="1"/>
          <p:nvPr>
            <p:ph idx="10" type="dt"/>
          </p:nvPr>
        </p:nvSpPr>
        <p:spPr>
          <a:xfrm>
            <a:off x="152400" y="4892278"/>
            <a:ext cx="25146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rgbClr val="002060"/>
                </a:solidFill>
                <a:latin typeface="Times New Roman"/>
                <a:ea typeface="Times New Roman"/>
                <a:cs typeface="Times New Roman"/>
                <a:sym typeface="Times New Roman"/>
              </a:rPr>
              <a:t>12/01/2026</a:t>
            </a:r>
            <a:endParaRPr b="1" sz="1100">
              <a:solidFill>
                <a:srgbClr val="002060"/>
              </a:solidFill>
              <a:latin typeface="Times New Roman"/>
              <a:ea typeface="Times New Roman"/>
              <a:cs typeface="Times New Roman"/>
              <a:sym typeface="Times New Roman"/>
            </a:endParaRPr>
          </a:p>
        </p:txBody>
      </p:sp>
      <p:sp>
        <p:nvSpPr>
          <p:cNvPr id="259" name="Google Shape;259;p13"/>
          <p:cNvSpPr txBox="1"/>
          <p:nvPr>
            <p:ph idx="11" type="ftr"/>
          </p:nvPr>
        </p:nvSpPr>
        <p:spPr>
          <a:xfrm>
            <a:off x="3239069" y="4892278"/>
            <a:ext cx="3352801"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School of  ECE</a:t>
            </a:r>
            <a:endParaRPr/>
          </a:p>
        </p:txBody>
      </p:sp>
      <p:sp>
        <p:nvSpPr>
          <p:cNvPr id="260" name="Google Shape;260;p13"/>
          <p:cNvSpPr txBox="1"/>
          <p:nvPr>
            <p:ph idx="12" type="sldNum"/>
          </p:nvPr>
        </p:nvSpPr>
        <p:spPr>
          <a:xfrm>
            <a:off x="6629400" y="4873068"/>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Times New Roman"/>
                <a:ea typeface="Times New Roman"/>
                <a:cs typeface="Times New Roman"/>
                <a:sym typeface="Times New Roman"/>
              </a:rPr>
              <a:t>16</a:t>
            </a:r>
            <a:endParaRPr/>
          </a:p>
        </p:txBody>
      </p:sp>
      <p:pic>
        <p:nvPicPr>
          <p:cNvPr id="261" name="Google Shape;261;p13"/>
          <p:cNvPicPr preferRelativeResize="0"/>
          <p:nvPr/>
        </p:nvPicPr>
        <p:blipFill rotWithShape="1">
          <a:blip r:embed="rId3">
            <a:alphaModFix/>
          </a:blip>
          <a:srcRect b="16827" l="1673" r="2922" t="18483"/>
          <a:stretch/>
        </p:blipFill>
        <p:spPr>
          <a:xfrm>
            <a:off x="5943600" y="71237"/>
            <a:ext cx="2895600" cy="351523"/>
          </a:xfrm>
          <a:prstGeom prst="rect">
            <a:avLst/>
          </a:prstGeom>
          <a:noFill/>
          <a:ln>
            <a:noFill/>
          </a:ln>
        </p:spPr>
      </p:pic>
      <p:sp>
        <p:nvSpPr>
          <p:cNvPr id="262" name="Google Shape;262;p13"/>
          <p:cNvSpPr/>
          <p:nvPr/>
        </p:nvSpPr>
        <p:spPr>
          <a:xfrm>
            <a:off x="228600" y="83475"/>
            <a:ext cx="5520300" cy="439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2060"/>
              </a:buClr>
              <a:buSzPts val="2200"/>
              <a:buFont typeface="Calibri"/>
              <a:buNone/>
            </a:pPr>
            <a:r>
              <a:rPr b="1" lang="en-US" sz="1900">
                <a:solidFill>
                  <a:srgbClr val="002060"/>
                </a:solidFill>
                <a:latin typeface="Calibri"/>
                <a:ea typeface="Calibri"/>
                <a:cs typeface="Calibri"/>
                <a:sym typeface="Calibri"/>
              </a:rPr>
              <a:t>Title: Motor Safety Interlock with Multi-Sensor Check</a:t>
            </a:r>
            <a:endParaRPr/>
          </a:p>
        </p:txBody>
      </p:sp>
      <p:sp>
        <p:nvSpPr>
          <p:cNvPr id="263" name="Google Shape;263;p13"/>
          <p:cNvSpPr/>
          <p:nvPr/>
        </p:nvSpPr>
        <p:spPr>
          <a:xfrm>
            <a:off x="152400" y="775407"/>
            <a:ext cx="8610600" cy="212365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Conclusion</a:t>
            </a:r>
            <a:endParaRPr b="0" i="0" sz="24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Motor Safety Interlock System using LPC1768 and RTOS successfully ensures safe motor operation by continuously monitoring temperature, gas, and distance parameters. The use of RTOS enables efficient multitasking, fast response, and reliable inter-task communication.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This system is suitable for industrial automation, robotic platforms, and safety-critical motor applications. Future enhancements can include IoT monitoring and mobile alerts.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cxnSp>
        <p:nvCxnSpPr>
          <p:cNvPr id="268" name="Google Shape;268;p14"/>
          <p:cNvCxnSpPr/>
          <p:nvPr/>
        </p:nvCxnSpPr>
        <p:spPr>
          <a:xfrm>
            <a:off x="304800" y="475598"/>
            <a:ext cx="8534400" cy="0"/>
          </a:xfrm>
          <a:prstGeom prst="straightConnector1">
            <a:avLst/>
          </a:prstGeom>
          <a:noFill/>
          <a:ln cap="flat" cmpd="thickThin" w="38100">
            <a:solidFill>
              <a:srgbClr val="0070C0"/>
            </a:solidFill>
            <a:prstDash val="solid"/>
            <a:miter lim="800000"/>
            <a:headEnd len="sm" w="sm" type="none"/>
            <a:tailEnd len="sm" w="sm" type="none"/>
          </a:ln>
        </p:spPr>
      </p:cxnSp>
      <p:sp>
        <p:nvSpPr>
          <p:cNvPr id="269" name="Google Shape;269;p14"/>
          <p:cNvSpPr/>
          <p:nvPr/>
        </p:nvSpPr>
        <p:spPr>
          <a:xfrm>
            <a:off x="0" y="4914900"/>
            <a:ext cx="9144000" cy="228600"/>
          </a:xfrm>
          <a:prstGeom prst="rect">
            <a:avLst/>
          </a:prstGeom>
          <a:solidFill>
            <a:srgbClr val="BBD6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14"/>
          <p:cNvSpPr txBox="1"/>
          <p:nvPr>
            <p:ph idx="10" type="dt"/>
          </p:nvPr>
        </p:nvSpPr>
        <p:spPr>
          <a:xfrm>
            <a:off x="152400" y="4892278"/>
            <a:ext cx="25146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rgbClr val="002060"/>
                </a:solidFill>
                <a:latin typeface="Times New Roman"/>
                <a:ea typeface="Times New Roman"/>
                <a:cs typeface="Times New Roman"/>
                <a:sym typeface="Times New Roman"/>
              </a:rPr>
              <a:t>12/01/2026</a:t>
            </a:r>
            <a:endParaRPr b="1" sz="1100">
              <a:solidFill>
                <a:srgbClr val="002060"/>
              </a:solidFill>
              <a:latin typeface="Times New Roman"/>
              <a:ea typeface="Times New Roman"/>
              <a:cs typeface="Times New Roman"/>
              <a:sym typeface="Times New Roman"/>
            </a:endParaRPr>
          </a:p>
        </p:txBody>
      </p:sp>
      <p:sp>
        <p:nvSpPr>
          <p:cNvPr id="271" name="Google Shape;271;p14"/>
          <p:cNvSpPr txBox="1"/>
          <p:nvPr>
            <p:ph idx="11" type="ftr"/>
          </p:nvPr>
        </p:nvSpPr>
        <p:spPr>
          <a:xfrm>
            <a:off x="2893629" y="5072263"/>
            <a:ext cx="5752531" cy="27384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                           School of  ECE                                                                         17</a:t>
            </a:r>
            <a:endParaRPr/>
          </a:p>
          <a:p>
            <a:pPr indent="0" lvl="0" marL="0" rtl="0" algn="ctr">
              <a:spcBef>
                <a:spcPts val="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t/>
            </a:r>
            <a:endParaRPr b="1" sz="1200">
              <a:solidFill>
                <a:schemeClr val="dk1"/>
              </a:solidFill>
              <a:latin typeface="Times New Roman"/>
              <a:ea typeface="Times New Roman"/>
              <a:cs typeface="Times New Roman"/>
              <a:sym typeface="Times New Roman"/>
            </a:endParaRPr>
          </a:p>
        </p:txBody>
      </p:sp>
      <p:pic>
        <p:nvPicPr>
          <p:cNvPr id="272" name="Google Shape;272;p14"/>
          <p:cNvPicPr preferRelativeResize="0"/>
          <p:nvPr/>
        </p:nvPicPr>
        <p:blipFill rotWithShape="1">
          <a:blip r:embed="rId3">
            <a:alphaModFix/>
          </a:blip>
          <a:srcRect b="16827" l="1673" r="2922" t="18483"/>
          <a:stretch/>
        </p:blipFill>
        <p:spPr>
          <a:xfrm>
            <a:off x="5943600" y="71237"/>
            <a:ext cx="2895600" cy="351523"/>
          </a:xfrm>
          <a:prstGeom prst="rect">
            <a:avLst/>
          </a:prstGeom>
          <a:noFill/>
          <a:ln>
            <a:noFill/>
          </a:ln>
        </p:spPr>
      </p:pic>
      <p:sp>
        <p:nvSpPr>
          <p:cNvPr id="273" name="Google Shape;273;p14"/>
          <p:cNvSpPr/>
          <p:nvPr/>
        </p:nvSpPr>
        <p:spPr>
          <a:xfrm>
            <a:off x="3711059" y="2433251"/>
            <a:ext cx="1721882"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dk1"/>
                </a:solidFill>
                <a:latin typeface="Calibri"/>
                <a:ea typeface="Calibri"/>
                <a:cs typeface="Calibri"/>
                <a:sym typeface="Calibri"/>
              </a:rPr>
              <a:t>Thank You</a:t>
            </a:r>
            <a:endParaRPr sz="2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Dell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36037FEFC1474B96BFA8A6DF57F84015_13</vt:lpwstr>
  </property>
  <property fmtid="{D5CDD505-2E9C-101B-9397-08002B2CF9AE}" pid="3" name="KSOProductBuildVer">
    <vt:lpwstr>1033-12.2.0.13359</vt:lpwstr>
  </property>
</Properties>
</file>